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03" r:id="rId1"/>
  </p:sldMasterIdLst>
  <p:notesMasterIdLst>
    <p:notesMasterId r:id="rId41"/>
  </p:notesMasterIdLst>
  <p:sldIdLst>
    <p:sldId id="256" r:id="rId2"/>
    <p:sldId id="268" r:id="rId3"/>
    <p:sldId id="270" r:id="rId4"/>
    <p:sldId id="269" r:id="rId5"/>
    <p:sldId id="257" r:id="rId6"/>
    <p:sldId id="258" r:id="rId7"/>
    <p:sldId id="259" r:id="rId8"/>
    <p:sldId id="260" r:id="rId9"/>
    <p:sldId id="261" r:id="rId10"/>
    <p:sldId id="271" r:id="rId11"/>
    <p:sldId id="287" r:id="rId12"/>
    <p:sldId id="273" r:id="rId13"/>
    <p:sldId id="262" r:id="rId14"/>
    <p:sldId id="263" r:id="rId15"/>
    <p:sldId id="264" r:id="rId16"/>
    <p:sldId id="266" r:id="rId17"/>
    <p:sldId id="288" r:id="rId18"/>
    <p:sldId id="276" r:id="rId19"/>
    <p:sldId id="289" r:id="rId20"/>
    <p:sldId id="290" r:id="rId21"/>
    <p:sldId id="300" r:id="rId22"/>
    <p:sldId id="301" r:id="rId23"/>
    <p:sldId id="302" r:id="rId24"/>
    <p:sldId id="291" r:id="rId25"/>
    <p:sldId id="292" r:id="rId26"/>
    <p:sldId id="278" r:id="rId27"/>
    <p:sldId id="303" r:id="rId28"/>
    <p:sldId id="284" r:id="rId29"/>
    <p:sldId id="304" r:id="rId30"/>
    <p:sldId id="305" r:id="rId31"/>
    <p:sldId id="306" r:id="rId32"/>
    <p:sldId id="279" r:id="rId33"/>
    <p:sldId id="280" r:id="rId34"/>
    <p:sldId id="267" r:id="rId35"/>
    <p:sldId id="307" r:id="rId36"/>
    <p:sldId id="308" r:id="rId37"/>
    <p:sldId id="309" r:id="rId38"/>
    <p:sldId id="281" r:id="rId39"/>
    <p:sldId id="283"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882" autoAdjust="0"/>
    <p:restoredTop sz="94660"/>
  </p:normalViewPr>
  <p:slideViewPr>
    <p:cSldViewPr snapToGrid="0">
      <p:cViewPr varScale="1">
        <p:scale>
          <a:sx n="75" d="100"/>
          <a:sy n="75" d="100"/>
        </p:scale>
        <p:origin x="176" y="44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730C61-CE76-084A-8C93-BA4F1B3212A3}" type="datetimeFigureOut">
              <a:rPr lang="en-US" smtClean="0"/>
              <a:t>9/24/26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CA73F8-A5EA-9E48-BDB4-67088C5FB294}" type="slidenum">
              <a:rPr lang="en-US" smtClean="0"/>
              <a:t>‹#›</a:t>
            </a:fld>
            <a:endParaRPr lang="en-US"/>
          </a:p>
        </p:txBody>
      </p:sp>
    </p:spTree>
    <p:extLst>
      <p:ext uri="{BB962C8B-B14F-4D97-AF65-F5344CB8AC3E}">
        <p14:creationId xmlns:p14="http://schemas.microsoft.com/office/powerpoint/2010/main" val="25971756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3DFAD9-C7BC-43DB-880F-3AFD12A762ED}" type="slidenum">
              <a:rPr lang="en-US" smtClean="0"/>
              <a:t>33</a:t>
            </a:fld>
            <a:endParaRPr lang="en-US"/>
          </a:p>
        </p:txBody>
      </p:sp>
    </p:spTree>
    <p:extLst>
      <p:ext uri="{BB962C8B-B14F-4D97-AF65-F5344CB8AC3E}">
        <p14:creationId xmlns:p14="http://schemas.microsoft.com/office/powerpoint/2010/main" val="16917436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EB34423-CFEA-4047-9980-29EAEA87A577}" type="datetimeFigureOut">
              <a:rPr lang="en-US" smtClean="0"/>
              <a:t>9/24/26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61B48C-B81B-40FC-8D41-7EEEEF4F630D}"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4587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B34423-CFEA-4047-9980-29EAEA87A577}" type="datetimeFigureOut">
              <a:rPr lang="en-US" smtClean="0"/>
              <a:t>9/24/26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61B48C-B81B-40FC-8D41-7EEEEF4F630D}" type="slidenum">
              <a:rPr lang="en-US" smtClean="0"/>
              <a:t>‹#›</a:t>
            </a:fld>
            <a:endParaRPr lang="en-US"/>
          </a:p>
        </p:txBody>
      </p:sp>
    </p:spTree>
    <p:extLst>
      <p:ext uri="{BB962C8B-B14F-4D97-AF65-F5344CB8AC3E}">
        <p14:creationId xmlns:p14="http://schemas.microsoft.com/office/powerpoint/2010/main" val="915209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B34423-CFEA-4047-9980-29EAEA87A577}" type="datetimeFigureOut">
              <a:rPr lang="en-US" smtClean="0"/>
              <a:t>9/24/26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661B48C-B81B-40FC-8D41-7EEEEF4F630D}"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03933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EB34423-CFEA-4047-9980-29EAEA87A577}" type="datetimeFigureOut">
              <a:rPr lang="en-US" smtClean="0"/>
              <a:t>9/24/26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661B48C-B81B-40FC-8D41-7EEEEF4F630D}" type="slidenum">
              <a:rPr lang="en-US" smtClean="0"/>
              <a:t>‹#›</a:t>
            </a:fld>
            <a:endParaRPr lang="en-US"/>
          </a:p>
        </p:txBody>
      </p:sp>
    </p:spTree>
    <p:extLst>
      <p:ext uri="{BB962C8B-B14F-4D97-AF65-F5344CB8AC3E}">
        <p14:creationId xmlns:p14="http://schemas.microsoft.com/office/powerpoint/2010/main" val="11907398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EB34423-CFEA-4047-9980-29EAEA87A577}" type="datetimeFigureOut">
              <a:rPr lang="en-US" smtClean="0"/>
              <a:t>9/24/26</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661B48C-B81B-40FC-8D41-7EEEEF4F630D}" type="slidenum">
              <a:rPr lang="en-US" smtClean="0"/>
              <a:t>‹#›</a:t>
            </a:fld>
            <a:endParaRPr lang="en-US"/>
          </a:p>
        </p:txBody>
      </p:sp>
    </p:spTree>
    <p:extLst>
      <p:ext uri="{BB962C8B-B14F-4D97-AF65-F5344CB8AC3E}">
        <p14:creationId xmlns:p14="http://schemas.microsoft.com/office/powerpoint/2010/main" val="1496138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EB34423-CFEA-4047-9980-29EAEA87A577}" type="datetimeFigureOut">
              <a:rPr lang="en-US" smtClean="0"/>
              <a:t>9/24/26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661B48C-B81B-40FC-8D41-7EEEEF4F630D}" type="slidenum">
              <a:rPr lang="en-US" smtClean="0"/>
              <a:t>‹#›</a:t>
            </a:fld>
            <a:endParaRPr lang="en-US"/>
          </a:p>
        </p:txBody>
      </p:sp>
    </p:spTree>
    <p:extLst>
      <p:ext uri="{BB962C8B-B14F-4D97-AF65-F5344CB8AC3E}">
        <p14:creationId xmlns:p14="http://schemas.microsoft.com/office/powerpoint/2010/main" val="11369704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Date Placeholder 6"/>
          <p:cNvSpPr>
            <a:spLocks noGrp="1"/>
          </p:cNvSpPr>
          <p:nvPr>
            <p:ph type="dt" sz="half" idx="10"/>
          </p:nvPr>
        </p:nvSpPr>
        <p:spPr/>
        <p:txBody>
          <a:bodyPr/>
          <a:lstStyle/>
          <a:p>
            <a:fld id="{6EB34423-CFEA-4047-9980-29EAEA87A577}" type="datetimeFigureOut">
              <a:rPr lang="en-US" smtClean="0"/>
              <a:t>9/24/26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5661B48C-B81B-40FC-8D41-7EEEEF4F630D}" type="slidenum">
              <a:rPr lang="en-US" smtClean="0"/>
              <a:t>‹#›</a:t>
            </a:fld>
            <a:endParaRPr lang="en-US"/>
          </a:p>
        </p:txBody>
      </p:sp>
    </p:spTree>
    <p:extLst>
      <p:ext uri="{BB962C8B-B14F-4D97-AF65-F5344CB8AC3E}">
        <p14:creationId xmlns:p14="http://schemas.microsoft.com/office/powerpoint/2010/main" val="40865569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EB34423-CFEA-4047-9980-29EAEA87A577}" type="datetimeFigureOut">
              <a:rPr lang="en-US" smtClean="0"/>
              <a:t>9/24/26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661B48C-B81B-40FC-8D41-7EEEEF4F630D}" type="slidenum">
              <a:rPr lang="en-US" smtClean="0"/>
              <a:t>‹#›</a:t>
            </a:fld>
            <a:endParaRPr lang="en-US"/>
          </a:p>
        </p:txBody>
      </p:sp>
    </p:spTree>
    <p:extLst>
      <p:ext uri="{BB962C8B-B14F-4D97-AF65-F5344CB8AC3E}">
        <p14:creationId xmlns:p14="http://schemas.microsoft.com/office/powerpoint/2010/main" val="136422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EB34423-CFEA-4047-9980-29EAEA87A577}" type="datetimeFigureOut">
              <a:rPr lang="en-US" smtClean="0"/>
              <a:t>9/24/26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661B48C-B81B-40FC-8D41-7EEEEF4F630D}" type="slidenum">
              <a:rPr lang="en-US" smtClean="0"/>
              <a:t>‹#›</a:t>
            </a:fld>
            <a:endParaRPr lang="en-US"/>
          </a:p>
        </p:txBody>
      </p:sp>
    </p:spTree>
    <p:extLst>
      <p:ext uri="{BB962C8B-B14F-4D97-AF65-F5344CB8AC3E}">
        <p14:creationId xmlns:p14="http://schemas.microsoft.com/office/powerpoint/2010/main" val="38035857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B34423-CFEA-4047-9980-29EAEA87A577}" type="datetimeFigureOut">
              <a:rPr lang="en-US" smtClean="0"/>
              <a:t>9/24/26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661B48C-B81B-40FC-8D41-7EEEEF4F630D}" type="slidenum">
              <a:rPr lang="en-US" smtClean="0"/>
              <a:t>‹#›</a:t>
            </a:fld>
            <a:endParaRPr lang="en-US"/>
          </a:p>
        </p:txBody>
      </p:sp>
    </p:spTree>
    <p:extLst>
      <p:ext uri="{BB962C8B-B14F-4D97-AF65-F5344CB8AC3E}">
        <p14:creationId xmlns:p14="http://schemas.microsoft.com/office/powerpoint/2010/main" val="35253171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B34423-CFEA-4047-9980-29EAEA87A577}" type="datetimeFigureOut">
              <a:rPr lang="en-US" smtClean="0"/>
              <a:t>9/24/26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661B48C-B81B-40FC-8D41-7EEEEF4F630D}" type="slidenum">
              <a:rPr lang="en-US" smtClean="0"/>
              <a:t>‹#›</a:t>
            </a:fld>
            <a:endParaRPr lang="en-US"/>
          </a:p>
        </p:txBody>
      </p:sp>
    </p:spTree>
    <p:extLst>
      <p:ext uri="{BB962C8B-B14F-4D97-AF65-F5344CB8AC3E}">
        <p14:creationId xmlns:p14="http://schemas.microsoft.com/office/powerpoint/2010/main" val="31342723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EB34423-CFEA-4047-9980-29EAEA87A577}" type="datetimeFigureOut">
              <a:rPr lang="en-US" smtClean="0"/>
              <a:t>9/24/26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661B48C-B81B-40FC-8D41-7EEEEF4F630D}"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5279254"/>
      </p:ext>
    </p:extLst>
  </p:cSld>
  <p:clrMap bg1="lt1" tx1="dk1" bg2="lt2" tx2="dk2" accent1="accent1" accent2="accent2" accent3="accent3" accent4="accent4" accent5="accent5" accent6="accent6" hlink="hlink" folHlink="folHlink"/>
  <p:sldLayoutIdLst>
    <p:sldLayoutId id="2147484004" r:id="rId1"/>
    <p:sldLayoutId id="2147484005" r:id="rId2"/>
    <p:sldLayoutId id="2147484006" r:id="rId3"/>
    <p:sldLayoutId id="2147484007" r:id="rId4"/>
    <p:sldLayoutId id="2147484008" r:id="rId5"/>
    <p:sldLayoutId id="2147484009" r:id="rId6"/>
    <p:sldLayoutId id="2147484010" r:id="rId7"/>
    <p:sldLayoutId id="2147484011" r:id="rId8"/>
    <p:sldLayoutId id="2147484012" r:id="rId9"/>
    <p:sldLayoutId id="2147484013" r:id="rId10"/>
    <p:sldLayoutId id="2147484014"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 Id="rId5" Type="http://schemas.openxmlformats.org/officeDocument/2006/relationships/image" Target="../media/image8.emf"/><Relationship Id="rId4" Type="http://schemas.openxmlformats.org/officeDocument/2006/relationships/image" Target="../media/image7.emf"/></Relationships>
</file>

<file path=ppt/slides/_rels/slide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7.xml"/><Relationship Id="rId4" Type="http://schemas.openxmlformats.org/officeDocument/2006/relationships/image" Target="../media/image13.emf"/></Relationships>
</file>

<file path=ppt/slides/_rels/slide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3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3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3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Linked list</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9960741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45040"/>
            <a:ext cx="10058400" cy="1450757"/>
          </a:xfrm>
        </p:spPr>
        <p:txBody>
          <a:bodyPr/>
          <a:lstStyle/>
          <a:p>
            <a:r>
              <a:rPr lang="en-US" dirty="0"/>
              <a:t>Basics </a:t>
            </a:r>
          </a:p>
        </p:txBody>
      </p:sp>
      <p:sp>
        <p:nvSpPr>
          <p:cNvPr id="3" name="Content Placeholder 2"/>
          <p:cNvSpPr>
            <a:spLocks noGrp="1"/>
          </p:cNvSpPr>
          <p:nvPr>
            <p:ph idx="1"/>
          </p:nvPr>
        </p:nvSpPr>
        <p:spPr/>
        <p:txBody>
          <a:bodyPr>
            <a:normAutofit/>
          </a:bodyPr>
          <a:lstStyle/>
          <a:p>
            <a:r>
              <a:rPr lang="en-US" sz="2800" dirty="0"/>
              <a:t>Dynamic memory allocation</a:t>
            </a:r>
          </a:p>
          <a:p>
            <a:pPr lvl="1"/>
            <a:r>
              <a:rPr lang="en-US" sz="2400" i="1" dirty="0">
                <a:solidFill>
                  <a:srgbClr val="FF0000"/>
                </a:solidFill>
              </a:rPr>
              <a:t>new </a:t>
            </a:r>
            <a:r>
              <a:rPr lang="en-US" sz="2400" dirty="0">
                <a:solidFill>
                  <a:schemeClr val="tx1"/>
                </a:solidFill>
              </a:rPr>
              <a:t>and</a:t>
            </a:r>
            <a:r>
              <a:rPr lang="en-US" sz="2400" i="1" dirty="0">
                <a:solidFill>
                  <a:srgbClr val="FF0000"/>
                </a:solidFill>
              </a:rPr>
              <a:t> delete</a:t>
            </a:r>
          </a:p>
          <a:p>
            <a:pPr lvl="1"/>
            <a:endParaRPr lang="en-US" sz="2400" i="1" dirty="0">
              <a:solidFill>
                <a:srgbClr val="FF0000"/>
              </a:solidFill>
            </a:endParaRPr>
          </a:p>
          <a:p>
            <a:pPr lvl="1"/>
            <a:endParaRPr lang="en-US" sz="2400" i="1" dirty="0">
              <a:solidFill>
                <a:srgbClr val="FF0000"/>
              </a:solidFill>
            </a:endParaRPr>
          </a:p>
          <a:p>
            <a:pPr lvl="1"/>
            <a:endParaRPr lang="en-US" sz="2400" i="1" dirty="0">
              <a:solidFill>
                <a:srgbClr val="FF0000"/>
              </a:solidFill>
            </a:endParaRPr>
          </a:p>
          <a:p>
            <a:pPr lvl="1"/>
            <a:endParaRPr lang="en-US" sz="2400" i="1" dirty="0">
              <a:solidFill>
                <a:srgbClr val="FF0000"/>
              </a:solidFill>
            </a:endParaRPr>
          </a:p>
        </p:txBody>
      </p:sp>
      <p:pic>
        <p:nvPicPr>
          <p:cNvPr id="4" name="Picture 3"/>
          <p:cNvPicPr>
            <a:picLocks noChangeAspect="1"/>
          </p:cNvPicPr>
          <p:nvPr/>
        </p:nvPicPr>
        <p:blipFill>
          <a:blip r:embed="rId2"/>
          <a:stretch>
            <a:fillRect/>
          </a:stretch>
        </p:blipFill>
        <p:spPr>
          <a:xfrm>
            <a:off x="1556716" y="2867891"/>
            <a:ext cx="7853800" cy="816343"/>
          </a:xfrm>
          <a:prstGeom prst="rect">
            <a:avLst/>
          </a:prstGeom>
        </p:spPr>
      </p:pic>
    </p:spTree>
    <p:extLst>
      <p:ext uri="{BB962C8B-B14F-4D97-AF65-F5344CB8AC3E}">
        <p14:creationId xmlns:p14="http://schemas.microsoft.com/office/powerpoint/2010/main" val="21026734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963392" y="1094501"/>
            <a:ext cx="8046488" cy="4378041"/>
          </a:xfrm>
          <a:prstGeom prst="rect">
            <a:avLst/>
          </a:prstGeom>
        </p:spPr>
      </p:pic>
    </p:spTree>
    <p:extLst>
      <p:ext uri="{BB962C8B-B14F-4D97-AF65-F5344CB8AC3E}">
        <p14:creationId xmlns:p14="http://schemas.microsoft.com/office/powerpoint/2010/main" val="8387472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Basics</a:t>
            </a:r>
          </a:p>
        </p:txBody>
      </p:sp>
      <p:sp>
        <p:nvSpPr>
          <p:cNvPr id="3" name="Content Placeholder 2"/>
          <p:cNvSpPr>
            <a:spLocks noGrp="1"/>
          </p:cNvSpPr>
          <p:nvPr>
            <p:ph idx="1"/>
          </p:nvPr>
        </p:nvSpPr>
        <p:spPr/>
        <p:txBody>
          <a:bodyPr/>
          <a:lstStyle/>
          <a:p>
            <a:r>
              <a:rPr lang="en-US" sz="2800" dirty="0">
                <a:solidFill>
                  <a:schemeClr val="tx1"/>
                </a:solidFill>
              </a:rPr>
              <a:t>Structures</a:t>
            </a:r>
            <a:endParaRPr lang="en-US" sz="2400" dirty="0">
              <a:solidFill>
                <a:schemeClr val="tx1"/>
              </a:solidFill>
            </a:endParaRPr>
          </a:p>
          <a:p>
            <a:pPr lvl="1"/>
            <a:r>
              <a:rPr lang="en-US" sz="2600" dirty="0">
                <a:solidFill>
                  <a:schemeClr val="tx1"/>
                </a:solidFill>
              </a:rPr>
              <a:t>‘ . ’ operator</a:t>
            </a:r>
          </a:p>
          <a:p>
            <a:pPr lvl="1"/>
            <a:r>
              <a:rPr lang="en-US" sz="2600" dirty="0">
                <a:solidFill>
                  <a:schemeClr val="tx1"/>
                </a:solidFill>
              </a:rPr>
              <a:t> -&gt; operator </a:t>
            </a:r>
          </a:p>
        </p:txBody>
      </p:sp>
      <p:pic>
        <p:nvPicPr>
          <p:cNvPr id="4" name="Picture 3"/>
          <p:cNvPicPr>
            <a:picLocks noChangeAspect="1"/>
          </p:cNvPicPr>
          <p:nvPr/>
        </p:nvPicPr>
        <p:blipFill>
          <a:blip r:embed="rId2"/>
          <a:stretch>
            <a:fillRect/>
          </a:stretch>
        </p:blipFill>
        <p:spPr>
          <a:xfrm>
            <a:off x="7735890" y="1845734"/>
            <a:ext cx="3583274" cy="2950364"/>
          </a:xfrm>
          <a:prstGeom prst="rect">
            <a:avLst/>
          </a:prstGeom>
        </p:spPr>
      </p:pic>
    </p:spTree>
    <p:extLst>
      <p:ext uri="{BB962C8B-B14F-4D97-AF65-F5344CB8AC3E}">
        <p14:creationId xmlns:p14="http://schemas.microsoft.com/office/powerpoint/2010/main" val="1973824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45040"/>
            <a:ext cx="10058400" cy="1450757"/>
          </a:xfrm>
        </p:spPr>
        <p:txBody>
          <a:bodyPr/>
          <a:lstStyle/>
          <a:p>
            <a:r>
              <a:rPr lang="en-US" dirty="0"/>
              <a:t>Linked List</a:t>
            </a:r>
          </a:p>
        </p:txBody>
      </p:sp>
      <p:pic>
        <p:nvPicPr>
          <p:cNvPr id="4" name="Picture 3"/>
          <p:cNvPicPr>
            <a:picLocks noChangeAspect="1"/>
          </p:cNvPicPr>
          <p:nvPr/>
        </p:nvPicPr>
        <p:blipFill>
          <a:blip r:embed="rId2"/>
          <a:stretch>
            <a:fillRect/>
          </a:stretch>
        </p:blipFill>
        <p:spPr>
          <a:xfrm>
            <a:off x="970881" y="2288682"/>
            <a:ext cx="2099117" cy="814730"/>
          </a:xfrm>
          <a:prstGeom prst="rect">
            <a:avLst/>
          </a:prstGeom>
        </p:spPr>
      </p:pic>
      <p:pic>
        <p:nvPicPr>
          <p:cNvPr id="5" name="Picture 4"/>
          <p:cNvPicPr>
            <a:picLocks noChangeAspect="1"/>
          </p:cNvPicPr>
          <p:nvPr/>
        </p:nvPicPr>
        <p:blipFill>
          <a:blip r:embed="rId3"/>
          <a:stretch>
            <a:fillRect/>
          </a:stretch>
        </p:blipFill>
        <p:spPr>
          <a:xfrm>
            <a:off x="4088326" y="2812473"/>
            <a:ext cx="7254783" cy="852426"/>
          </a:xfrm>
          <a:prstGeom prst="rect">
            <a:avLst/>
          </a:prstGeom>
        </p:spPr>
      </p:pic>
      <p:pic>
        <p:nvPicPr>
          <p:cNvPr id="6" name="Picture 5"/>
          <p:cNvPicPr>
            <a:picLocks noChangeAspect="1"/>
          </p:cNvPicPr>
          <p:nvPr/>
        </p:nvPicPr>
        <p:blipFill>
          <a:blip r:embed="rId4"/>
          <a:stretch>
            <a:fillRect/>
          </a:stretch>
        </p:blipFill>
        <p:spPr>
          <a:xfrm>
            <a:off x="4088326" y="4247626"/>
            <a:ext cx="5790877" cy="1141791"/>
          </a:xfrm>
          <a:prstGeom prst="rect">
            <a:avLst/>
          </a:prstGeom>
        </p:spPr>
      </p:pic>
      <p:pic>
        <p:nvPicPr>
          <p:cNvPr id="7" name="Picture 6"/>
          <p:cNvPicPr>
            <a:picLocks noChangeAspect="1"/>
          </p:cNvPicPr>
          <p:nvPr/>
        </p:nvPicPr>
        <p:blipFill>
          <a:blip r:embed="rId5"/>
          <a:stretch>
            <a:fillRect/>
          </a:stretch>
        </p:blipFill>
        <p:spPr>
          <a:xfrm>
            <a:off x="738451" y="3553615"/>
            <a:ext cx="2448736" cy="1198487"/>
          </a:xfrm>
          <a:prstGeom prst="rect">
            <a:avLst/>
          </a:prstGeom>
        </p:spPr>
      </p:pic>
    </p:spTree>
    <p:extLst>
      <p:ext uri="{BB962C8B-B14F-4D97-AF65-F5344CB8AC3E}">
        <p14:creationId xmlns:p14="http://schemas.microsoft.com/office/powerpoint/2010/main" val="2813580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contrast="20000"/>
          </a:blip>
          <a:stretch>
            <a:fillRect/>
          </a:stretch>
        </p:blipFill>
        <p:spPr>
          <a:xfrm>
            <a:off x="1872881" y="471455"/>
            <a:ext cx="8564674" cy="1121817"/>
          </a:xfrm>
          <a:prstGeom prst="rect">
            <a:avLst/>
          </a:prstGeom>
        </p:spPr>
      </p:pic>
      <p:pic>
        <p:nvPicPr>
          <p:cNvPr id="5" name="Picture 4"/>
          <p:cNvPicPr>
            <a:picLocks noChangeAspect="1"/>
          </p:cNvPicPr>
          <p:nvPr/>
        </p:nvPicPr>
        <p:blipFill>
          <a:blip r:embed="rId3"/>
          <a:stretch>
            <a:fillRect/>
          </a:stretch>
        </p:blipFill>
        <p:spPr>
          <a:xfrm>
            <a:off x="1958923" y="2121890"/>
            <a:ext cx="8018449" cy="2976583"/>
          </a:xfrm>
          <a:prstGeom prst="rect">
            <a:avLst/>
          </a:prstGeom>
        </p:spPr>
      </p:pic>
      <p:sp>
        <p:nvSpPr>
          <p:cNvPr id="2" name="Rectangle 1"/>
          <p:cNvSpPr/>
          <p:nvPr/>
        </p:nvSpPr>
        <p:spPr>
          <a:xfrm>
            <a:off x="4516583" y="2660077"/>
            <a:ext cx="5292435" cy="232755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10921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contrast="20000"/>
          </a:blip>
          <a:stretch>
            <a:fillRect/>
          </a:stretch>
        </p:blipFill>
        <p:spPr>
          <a:xfrm>
            <a:off x="1554499" y="1539825"/>
            <a:ext cx="9018169" cy="1632859"/>
          </a:xfrm>
          <a:prstGeom prst="rect">
            <a:avLst/>
          </a:prstGeom>
        </p:spPr>
      </p:pic>
      <p:pic>
        <p:nvPicPr>
          <p:cNvPr id="5" name="Picture 4"/>
          <p:cNvPicPr>
            <a:picLocks noChangeAspect="1"/>
          </p:cNvPicPr>
          <p:nvPr/>
        </p:nvPicPr>
        <p:blipFill>
          <a:blip r:embed="rId3">
            <a:lum contrast="20000"/>
          </a:blip>
          <a:stretch>
            <a:fillRect/>
          </a:stretch>
        </p:blipFill>
        <p:spPr>
          <a:xfrm>
            <a:off x="65007" y="41554"/>
            <a:ext cx="10247142" cy="1537151"/>
          </a:xfrm>
          <a:prstGeom prst="rect">
            <a:avLst/>
          </a:prstGeom>
        </p:spPr>
      </p:pic>
      <p:pic>
        <p:nvPicPr>
          <p:cNvPr id="6" name="Picture 5"/>
          <p:cNvPicPr>
            <a:picLocks noChangeAspect="1"/>
          </p:cNvPicPr>
          <p:nvPr/>
        </p:nvPicPr>
        <p:blipFill>
          <a:blip r:embed="rId4"/>
          <a:stretch>
            <a:fillRect/>
          </a:stretch>
        </p:blipFill>
        <p:spPr>
          <a:xfrm>
            <a:off x="3149675" y="3031680"/>
            <a:ext cx="6165203" cy="3826319"/>
          </a:xfrm>
          <a:prstGeom prst="rect">
            <a:avLst/>
          </a:prstGeom>
        </p:spPr>
      </p:pic>
      <p:sp>
        <p:nvSpPr>
          <p:cNvPr id="2" name="Rectangle 1"/>
          <p:cNvSpPr/>
          <p:nvPr/>
        </p:nvSpPr>
        <p:spPr>
          <a:xfrm>
            <a:off x="6567064" y="3477483"/>
            <a:ext cx="678873" cy="30480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6539349" y="3837698"/>
            <a:ext cx="678873" cy="30480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567059" y="4211777"/>
            <a:ext cx="678873" cy="30480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594764" y="4599706"/>
            <a:ext cx="678873" cy="30480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6567049" y="4959931"/>
            <a:ext cx="678873" cy="30480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567044" y="5334011"/>
            <a:ext cx="678873" cy="30480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636314" y="5721946"/>
            <a:ext cx="678873" cy="30480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6761004" y="6123728"/>
            <a:ext cx="1274632" cy="26322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6760999" y="6442388"/>
            <a:ext cx="1995074" cy="36022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44411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Traversing a Link List</a:t>
            </a:r>
          </a:p>
        </p:txBody>
      </p:sp>
      <p:pic>
        <p:nvPicPr>
          <p:cNvPr id="4" name="Picture 3"/>
          <p:cNvPicPr>
            <a:picLocks noChangeAspect="1"/>
          </p:cNvPicPr>
          <p:nvPr/>
        </p:nvPicPr>
        <p:blipFill>
          <a:blip r:embed="rId2">
            <a:lum contrast="20000"/>
          </a:blip>
          <a:stretch>
            <a:fillRect/>
          </a:stretch>
        </p:blipFill>
        <p:spPr>
          <a:xfrm>
            <a:off x="1872881" y="1926170"/>
            <a:ext cx="8564674" cy="1121817"/>
          </a:xfrm>
          <a:prstGeom prst="rect">
            <a:avLst/>
          </a:prstGeom>
        </p:spPr>
      </p:pic>
      <p:pic>
        <p:nvPicPr>
          <p:cNvPr id="5" name="Picture 4"/>
          <p:cNvPicPr>
            <a:picLocks noChangeAspect="1"/>
          </p:cNvPicPr>
          <p:nvPr/>
        </p:nvPicPr>
        <p:blipFill>
          <a:blip r:embed="rId3"/>
          <a:stretch>
            <a:fillRect/>
          </a:stretch>
        </p:blipFill>
        <p:spPr>
          <a:xfrm>
            <a:off x="3544124" y="3669907"/>
            <a:ext cx="4856900" cy="2065875"/>
          </a:xfrm>
          <a:prstGeom prst="rect">
            <a:avLst/>
          </a:prstGeom>
        </p:spPr>
      </p:pic>
    </p:spTree>
    <p:extLst>
      <p:ext uri="{BB962C8B-B14F-4D97-AF65-F5344CB8AC3E}">
        <p14:creationId xmlns:p14="http://schemas.microsoft.com/office/powerpoint/2010/main" val="3082804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to the end of Link List</a:t>
            </a:r>
          </a:p>
        </p:txBody>
      </p:sp>
      <p:pic>
        <p:nvPicPr>
          <p:cNvPr id="4" name="Picture 3"/>
          <p:cNvPicPr>
            <a:picLocks noChangeAspect="1"/>
          </p:cNvPicPr>
          <p:nvPr/>
        </p:nvPicPr>
        <p:blipFill>
          <a:blip r:embed="rId2">
            <a:lum contrast="20000"/>
          </a:blip>
          <a:stretch>
            <a:fillRect/>
          </a:stretch>
        </p:blipFill>
        <p:spPr>
          <a:xfrm>
            <a:off x="1872881" y="1926170"/>
            <a:ext cx="8564674" cy="1121817"/>
          </a:xfrm>
          <a:prstGeom prst="rect">
            <a:avLst/>
          </a:prstGeom>
        </p:spPr>
      </p:pic>
      <p:pic>
        <p:nvPicPr>
          <p:cNvPr id="3" name="Picture 2"/>
          <p:cNvPicPr>
            <a:picLocks noChangeAspect="1"/>
          </p:cNvPicPr>
          <p:nvPr/>
        </p:nvPicPr>
        <p:blipFill>
          <a:blip r:embed="rId3"/>
          <a:stretch>
            <a:fillRect/>
          </a:stretch>
        </p:blipFill>
        <p:spPr>
          <a:xfrm>
            <a:off x="1708279" y="3816851"/>
            <a:ext cx="2448736" cy="1198487"/>
          </a:xfrm>
          <a:prstGeom prst="rect">
            <a:avLst/>
          </a:prstGeom>
        </p:spPr>
      </p:pic>
    </p:spTree>
    <p:extLst>
      <p:ext uri="{BB962C8B-B14F-4D97-AF65-F5344CB8AC3E}">
        <p14:creationId xmlns:p14="http://schemas.microsoft.com/office/powerpoint/2010/main" val="32747500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83132" y="1102063"/>
            <a:ext cx="5805050" cy="5158688"/>
          </a:xfrm>
          <a:prstGeom prst="rect">
            <a:avLst/>
          </a:prstGeom>
        </p:spPr>
      </p:pic>
      <p:sp>
        <p:nvSpPr>
          <p:cNvPr id="6" name="TextBox 5"/>
          <p:cNvSpPr txBox="1"/>
          <p:nvPr/>
        </p:nvSpPr>
        <p:spPr>
          <a:xfrm>
            <a:off x="3588331" y="193954"/>
            <a:ext cx="4765959" cy="1200329"/>
          </a:xfrm>
          <a:prstGeom prst="rect">
            <a:avLst/>
          </a:prstGeom>
          <a:noFill/>
        </p:spPr>
        <p:txBody>
          <a:bodyPr wrap="square" rtlCol="0">
            <a:spAutoFit/>
          </a:bodyPr>
          <a:lstStyle/>
          <a:p>
            <a:pPr algn="ctr"/>
            <a:r>
              <a:rPr lang="en-US" sz="3600" dirty="0"/>
              <a:t>Link List class for storing float values</a:t>
            </a:r>
          </a:p>
        </p:txBody>
      </p:sp>
      <p:pic>
        <p:nvPicPr>
          <p:cNvPr id="3" name="Picture 2"/>
          <p:cNvPicPr>
            <a:picLocks noChangeAspect="1"/>
          </p:cNvPicPr>
          <p:nvPr/>
        </p:nvPicPr>
        <p:blipFill>
          <a:blip r:embed="rId3"/>
          <a:stretch>
            <a:fillRect/>
          </a:stretch>
        </p:blipFill>
        <p:spPr>
          <a:xfrm>
            <a:off x="6184754" y="2774364"/>
            <a:ext cx="3795015" cy="3349337"/>
          </a:xfrm>
          <a:prstGeom prst="rect">
            <a:avLst/>
          </a:prstGeom>
        </p:spPr>
      </p:pic>
    </p:spTree>
    <p:extLst>
      <p:ext uri="{BB962C8B-B14F-4D97-AF65-F5344CB8AC3E}">
        <p14:creationId xmlns:p14="http://schemas.microsoft.com/office/powerpoint/2010/main" val="3491594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0399" y="2073592"/>
            <a:ext cx="6320219" cy="29708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198793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272147" y="410173"/>
            <a:ext cx="6459248" cy="5635179"/>
          </a:xfrm>
          <a:prstGeom prst="rect">
            <a:avLst/>
          </a:prstGeom>
        </p:spPr>
      </p:pic>
    </p:spTree>
    <p:extLst>
      <p:ext uri="{BB962C8B-B14F-4D97-AF65-F5344CB8AC3E}">
        <p14:creationId xmlns:p14="http://schemas.microsoft.com/office/powerpoint/2010/main" val="3438217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Inserting a Node in the middle</a:t>
            </a:r>
          </a:p>
        </p:txBody>
      </p:sp>
      <p:sp>
        <p:nvSpPr>
          <p:cNvPr id="3" name="Content Placeholder 2"/>
          <p:cNvSpPr>
            <a:spLocks noGrp="1"/>
          </p:cNvSpPr>
          <p:nvPr>
            <p:ph idx="1"/>
          </p:nvPr>
        </p:nvSpPr>
        <p:spPr>
          <a:xfrm>
            <a:off x="1097280" y="1845734"/>
            <a:ext cx="10058400" cy="1347632"/>
          </a:xfrm>
        </p:spPr>
        <p:txBody>
          <a:bodyPr/>
          <a:lstStyle/>
          <a:p>
            <a:r>
              <a:rPr lang="en-US" dirty="0"/>
              <a:t>Assume, we want to insert a value of 50 between 65 and 34</a:t>
            </a: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0840" y="2470320"/>
            <a:ext cx="7181850"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3155" y="2486385"/>
            <a:ext cx="7085355" cy="1157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10892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9622302" y="351691"/>
            <a:ext cx="1533378" cy="4192173"/>
          </a:xfrm>
        </p:spPr>
        <p:txBody>
          <a:bodyPr>
            <a:normAutofit/>
          </a:bodyPr>
          <a:lstStyle/>
          <a:p>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557" y="351686"/>
            <a:ext cx="8853904" cy="59435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262090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Another approach for insertion</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8001" y="3565377"/>
            <a:ext cx="9165097" cy="2694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3009" y="1842856"/>
            <a:ext cx="6551792" cy="16276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24624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830263" y="287338"/>
            <a:ext cx="11361737" cy="754062"/>
          </a:xfrm>
        </p:spPr>
        <p:txBody>
          <a:bodyPr/>
          <a:lstStyle/>
          <a:p>
            <a:r>
              <a:rPr lang="en-US" dirty="0"/>
              <a:t>Deleting a Node</a:t>
            </a:r>
          </a:p>
        </p:txBody>
      </p:sp>
      <p:sp>
        <p:nvSpPr>
          <p:cNvPr id="3" name="Content Placeholder 2"/>
          <p:cNvSpPr>
            <a:spLocks noGrp="1"/>
          </p:cNvSpPr>
          <p:nvPr>
            <p:ph idx="4294967295"/>
          </p:nvPr>
        </p:nvSpPr>
        <p:spPr>
          <a:xfrm>
            <a:off x="0" y="1122363"/>
            <a:ext cx="10058400" cy="1347787"/>
          </a:xfrm>
        </p:spPr>
        <p:txBody>
          <a:bodyPr/>
          <a:lstStyle/>
          <a:p>
            <a:r>
              <a:rPr lang="en-US" dirty="0"/>
              <a:t>Assume, we want to delete a node with value of 34</a:t>
            </a: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9316" y="1640308"/>
            <a:ext cx="7181850"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7840" y="2660972"/>
            <a:ext cx="8479258" cy="4035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126892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1450"/>
            <a:ext cx="6791325" cy="392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3075" y="2114550"/>
            <a:ext cx="6410325" cy="459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308476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83132" y="644862"/>
            <a:ext cx="5805050" cy="5158688"/>
          </a:xfrm>
          <a:prstGeom prst="rect">
            <a:avLst/>
          </a:prstGeom>
        </p:spPr>
      </p:pic>
      <p:pic>
        <p:nvPicPr>
          <p:cNvPr id="6" name="Picture 5"/>
          <p:cNvPicPr>
            <a:picLocks noChangeAspect="1"/>
          </p:cNvPicPr>
          <p:nvPr/>
        </p:nvPicPr>
        <p:blipFill>
          <a:blip r:embed="rId3"/>
          <a:stretch>
            <a:fillRect/>
          </a:stretch>
        </p:blipFill>
        <p:spPr>
          <a:xfrm>
            <a:off x="5869648" y="290955"/>
            <a:ext cx="5892864" cy="5262892"/>
          </a:xfrm>
          <a:prstGeom prst="rect">
            <a:avLst/>
          </a:prstGeom>
        </p:spPr>
      </p:pic>
    </p:spTree>
    <p:extLst>
      <p:ext uri="{BB962C8B-B14F-4D97-AF65-F5344CB8AC3E}">
        <p14:creationId xmlns:p14="http://schemas.microsoft.com/office/powerpoint/2010/main" val="29278666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Linked list </a:t>
            </a:r>
            <a:br>
              <a:rPr lang="en-US" dirty="0"/>
            </a:br>
            <a:r>
              <a:rPr lang="en-US" sz="4800" dirty="0"/>
              <a:t>Handling dynamic Memory </a:t>
            </a:r>
          </a:p>
        </p:txBody>
      </p:sp>
      <p:sp>
        <p:nvSpPr>
          <p:cNvPr id="3" name="Subtitle 2"/>
          <p:cNvSpPr>
            <a:spLocks noGrp="1"/>
          </p:cNvSpPr>
          <p:nvPr>
            <p:ph type="subTitle" idx="1"/>
          </p:nvPr>
        </p:nvSpPr>
        <p:spPr/>
        <p:txBody>
          <a:bodyPr>
            <a:normAutofit fontScale="85000" lnSpcReduction="20000"/>
          </a:bodyPr>
          <a:lstStyle/>
          <a:p>
            <a:r>
              <a:rPr lang="en-US" dirty="0"/>
              <a:t>Destructor</a:t>
            </a:r>
          </a:p>
          <a:p>
            <a:r>
              <a:rPr lang="en-US" dirty="0"/>
              <a:t>Assignment operator</a:t>
            </a:r>
          </a:p>
          <a:p>
            <a:r>
              <a:rPr lang="en-US" dirty="0"/>
              <a:t>copy constructor</a:t>
            </a:r>
          </a:p>
        </p:txBody>
      </p:sp>
    </p:spTree>
    <p:extLst>
      <p:ext uri="{BB962C8B-B14F-4D97-AF65-F5344CB8AC3E}">
        <p14:creationId xmlns:p14="http://schemas.microsoft.com/office/powerpoint/2010/main" val="29085832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83132" y="1102063"/>
            <a:ext cx="5147236" cy="4574118"/>
          </a:xfrm>
          <a:prstGeom prst="rect">
            <a:avLst/>
          </a:prstGeom>
        </p:spPr>
      </p:pic>
      <p:sp>
        <p:nvSpPr>
          <p:cNvPr id="6" name="TextBox 5"/>
          <p:cNvSpPr txBox="1"/>
          <p:nvPr/>
        </p:nvSpPr>
        <p:spPr>
          <a:xfrm>
            <a:off x="2692219" y="0"/>
            <a:ext cx="6122597" cy="646331"/>
          </a:xfrm>
          <a:prstGeom prst="rect">
            <a:avLst/>
          </a:prstGeom>
          <a:noFill/>
        </p:spPr>
        <p:txBody>
          <a:bodyPr wrap="square" rtlCol="0">
            <a:spAutoFit/>
          </a:bodyPr>
          <a:lstStyle/>
          <a:p>
            <a:pPr algn="ctr"/>
            <a:r>
              <a:rPr lang="en-US" sz="3600" dirty="0"/>
              <a:t>Link List class Updated now</a:t>
            </a:r>
          </a:p>
        </p:txBody>
      </p:sp>
      <p:pic>
        <p:nvPicPr>
          <p:cNvPr id="2" name="Picture 1"/>
          <p:cNvPicPr>
            <a:picLocks noChangeAspect="1"/>
          </p:cNvPicPr>
          <p:nvPr/>
        </p:nvPicPr>
        <p:blipFill>
          <a:blip r:embed="rId3"/>
          <a:stretch>
            <a:fillRect/>
          </a:stretch>
        </p:blipFill>
        <p:spPr>
          <a:xfrm>
            <a:off x="6925904" y="855175"/>
            <a:ext cx="4943007" cy="5278504"/>
          </a:xfrm>
          <a:prstGeom prst="rect">
            <a:avLst/>
          </a:prstGeom>
        </p:spPr>
      </p:pic>
      <p:sp>
        <p:nvSpPr>
          <p:cNvPr id="4" name="Right Arrow 3"/>
          <p:cNvSpPr/>
          <p:nvPr/>
        </p:nvSpPr>
        <p:spPr>
          <a:xfrm>
            <a:off x="4937760" y="2825496"/>
            <a:ext cx="1463040" cy="4114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64941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54210" y="2286432"/>
            <a:ext cx="5305448" cy="3435495"/>
          </a:xfrm>
          <a:prstGeom prst="rect">
            <a:avLst/>
          </a:prstGeom>
        </p:spPr>
      </p:pic>
      <p:pic>
        <p:nvPicPr>
          <p:cNvPr id="3" name="Picture 2"/>
          <p:cNvPicPr>
            <a:picLocks noChangeAspect="1"/>
          </p:cNvPicPr>
          <p:nvPr/>
        </p:nvPicPr>
        <p:blipFill>
          <a:blip r:embed="rId3"/>
          <a:stretch>
            <a:fillRect/>
          </a:stretch>
        </p:blipFill>
        <p:spPr>
          <a:xfrm>
            <a:off x="4808762" y="637309"/>
            <a:ext cx="7254783" cy="852426"/>
          </a:xfrm>
          <a:prstGeom prst="rect">
            <a:avLst/>
          </a:prstGeom>
        </p:spPr>
      </p:pic>
      <p:sp>
        <p:nvSpPr>
          <p:cNvPr id="4" name="TextBox 3"/>
          <p:cNvSpPr txBox="1"/>
          <p:nvPr/>
        </p:nvSpPr>
        <p:spPr>
          <a:xfrm>
            <a:off x="954210" y="637309"/>
            <a:ext cx="3049754" cy="707886"/>
          </a:xfrm>
          <a:prstGeom prst="rect">
            <a:avLst/>
          </a:prstGeom>
          <a:noFill/>
        </p:spPr>
        <p:txBody>
          <a:bodyPr wrap="square" rtlCol="0">
            <a:spAutoFit/>
          </a:bodyPr>
          <a:lstStyle/>
          <a:p>
            <a:r>
              <a:rPr lang="en-US" sz="4000" dirty="0">
                <a:solidFill>
                  <a:schemeClr val="accent2"/>
                </a:solidFill>
              </a:rPr>
              <a:t>Destructor</a:t>
            </a:r>
          </a:p>
        </p:txBody>
      </p:sp>
    </p:spTree>
    <p:extLst>
      <p:ext uri="{BB962C8B-B14F-4D97-AF65-F5344CB8AC3E}">
        <p14:creationId xmlns:p14="http://schemas.microsoft.com/office/powerpoint/2010/main" val="2247658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Assignment Operation</a:t>
            </a:r>
          </a:p>
        </p:txBody>
      </p:sp>
      <p:sp>
        <p:nvSpPr>
          <p:cNvPr id="3" name="Content Placeholder 2"/>
          <p:cNvSpPr>
            <a:spLocks noGrp="1"/>
          </p:cNvSpPr>
          <p:nvPr>
            <p:ph idx="1"/>
          </p:nvPr>
        </p:nvSpPr>
        <p:spPr/>
        <p:txBody>
          <a:bodyPr/>
          <a:lstStyle/>
          <a:p>
            <a:pPr>
              <a:spcBef>
                <a:spcPts val="0"/>
              </a:spcBef>
              <a:spcAft>
                <a:spcPts val="0"/>
              </a:spcAft>
            </a:pPr>
            <a:r>
              <a:rPr lang="en-US" dirty="0" err="1">
                <a:latin typeface="Courier New" panose="02070309020205020404" pitchFamily="49" charset="0"/>
                <a:cs typeface="Courier New" panose="02070309020205020404" pitchFamily="49" charset="0"/>
              </a:rPr>
              <a:t>FloatList</a:t>
            </a:r>
            <a:r>
              <a:rPr lang="en-US" dirty="0">
                <a:latin typeface="Courier New" panose="02070309020205020404" pitchFamily="49" charset="0"/>
                <a:cs typeface="Courier New" panose="02070309020205020404" pitchFamily="49" charset="0"/>
              </a:rPr>
              <a:t> list1, list2;</a:t>
            </a:r>
          </a:p>
          <a:p>
            <a:pPr>
              <a:spcBef>
                <a:spcPts val="0"/>
              </a:spcBef>
              <a:spcAft>
                <a:spcPts val="0"/>
              </a:spcAft>
            </a:pPr>
            <a:r>
              <a:rPr lang="en-US" dirty="0">
                <a:latin typeface="Courier New" panose="02070309020205020404" pitchFamily="49" charset="0"/>
                <a:cs typeface="Courier New" panose="02070309020205020404" pitchFamily="49" charset="0"/>
              </a:rPr>
              <a:t>list1.append(20);</a:t>
            </a:r>
          </a:p>
          <a:p>
            <a:pPr>
              <a:spcBef>
                <a:spcPts val="0"/>
              </a:spcBef>
              <a:spcAft>
                <a:spcPts val="0"/>
              </a:spcAft>
            </a:pPr>
            <a:r>
              <a:rPr lang="en-US" dirty="0">
                <a:latin typeface="Courier New" panose="02070309020205020404" pitchFamily="49" charset="0"/>
                <a:cs typeface="Courier New" panose="02070309020205020404" pitchFamily="49" charset="0"/>
              </a:rPr>
              <a:t>list1.append(45);</a:t>
            </a:r>
          </a:p>
          <a:p>
            <a:pPr>
              <a:spcBef>
                <a:spcPts val="0"/>
              </a:spcBef>
              <a:spcAft>
                <a:spcPts val="0"/>
              </a:spcAft>
            </a:pPr>
            <a:r>
              <a:rPr lang="en-US" dirty="0">
                <a:latin typeface="Courier New" panose="02070309020205020404" pitchFamily="49" charset="0"/>
                <a:cs typeface="Courier New" panose="02070309020205020404" pitchFamily="49" charset="0"/>
              </a:rPr>
              <a:t>list1.append(51);</a:t>
            </a:r>
          </a:p>
          <a:p>
            <a:pPr>
              <a:spcBef>
                <a:spcPts val="0"/>
              </a:spcBef>
              <a:spcAft>
                <a:spcPts val="0"/>
              </a:spcAft>
            </a:pPr>
            <a:r>
              <a:rPr lang="en-US" dirty="0">
                <a:latin typeface="Courier New" panose="02070309020205020404" pitchFamily="49" charset="0"/>
                <a:cs typeface="Courier New" panose="02070309020205020404" pitchFamily="49" charset="0"/>
              </a:rPr>
              <a:t>list1.append(76);</a:t>
            </a:r>
          </a:p>
          <a:p>
            <a:pPr>
              <a:spcBef>
                <a:spcPts val="0"/>
              </a:spcBef>
              <a:spcAft>
                <a:spcPts val="0"/>
              </a:spcAft>
            </a:pPr>
            <a:r>
              <a:rPr lang="en-US" dirty="0">
                <a:latin typeface="Courier New" panose="02070309020205020404" pitchFamily="49" charset="0"/>
                <a:cs typeface="Courier New" panose="02070309020205020404" pitchFamily="49" charset="0"/>
              </a:rPr>
              <a:t>list2=list1;</a:t>
            </a:r>
          </a:p>
          <a:p>
            <a:endParaRPr lang="en-US" dirty="0"/>
          </a:p>
          <a:p>
            <a:endParaRPr lang="en-US" dirty="0"/>
          </a:p>
          <a:p>
            <a:endParaRPr lang="en-US" dirty="0"/>
          </a:p>
        </p:txBody>
      </p:sp>
      <p:grpSp>
        <p:nvGrpSpPr>
          <p:cNvPr id="5" name="Group 4"/>
          <p:cNvGrpSpPr>
            <a:grpSpLocks/>
          </p:cNvGrpSpPr>
          <p:nvPr/>
        </p:nvGrpSpPr>
        <p:grpSpPr bwMode="auto">
          <a:xfrm>
            <a:off x="3271455" y="4419598"/>
            <a:ext cx="1143000" cy="457200"/>
            <a:chOff x="768" y="2784"/>
            <a:chExt cx="720" cy="288"/>
          </a:xfrm>
        </p:grpSpPr>
        <p:sp>
          <p:nvSpPr>
            <p:cNvPr id="24" name="Rectangle 23"/>
            <p:cNvSpPr>
              <a:spLocks noChangeArrowheads="1"/>
            </p:cNvSpPr>
            <p:nvPr/>
          </p:nvSpPr>
          <p:spPr bwMode="auto">
            <a:xfrm>
              <a:off x="768" y="2784"/>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r>
                <a:rPr lang="en-US" altLang="ja-JP" sz="2400">
                  <a:solidFill>
                    <a:schemeClr val="bg1"/>
                  </a:solidFill>
                </a:rPr>
                <a:t>20</a:t>
              </a:r>
            </a:p>
          </p:txBody>
        </p:sp>
        <p:sp>
          <p:nvSpPr>
            <p:cNvPr id="25" name="Rectangle 24"/>
            <p:cNvSpPr>
              <a:spLocks noChangeArrowheads="1"/>
            </p:cNvSpPr>
            <p:nvPr/>
          </p:nvSpPr>
          <p:spPr bwMode="auto">
            <a:xfrm>
              <a:off x="1056" y="2784"/>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endParaRPr lang="en-US">
                <a:solidFill>
                  <a:schemeClr val="bg1"/>
                </a:solidFill>
              </a:endParaRPr>
            </a:p>
          </p:txBody>
        </p:sp>
        <p:sp>
          <p:nvSpPr>
            <p:cNvPr id="26" name="Line 7"/>
            <p:cNvSpPr>
              <a:spLocks noChangeShapeType="1"/>
            </p:cNvSpPr>
            <p:nvPr/>
          </p:nvSpPr>
          <p:spPr bwMode="auto">
            <a:xfrm>
              <a:off x="1200" y="2928"/>
              <a:ext cx="288"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endParaRPr lang="en-US">
                <a:solidFill>
                  <a:schemeClr val="bg1"/>
                </a:solidFill>
              </a:endParaRPr>
            </a:p>
          </p:txBody>
        </p:sp>
      </p:grpSp>
      <p:grpSp>
        <p:nvGrpSpPr>
          <p:cNvPr id="6" name="Group 5"/>
          <p:cNvGrpSpPr>
            <a:grpSpLocks/>
          </p:cNvGrpSpPr>
          <p:nvPr/>
        </p:nvGrpSpPr>
        <p:grpSpPr bwMode="auto">
          <a:xfrm>
            <a:off x="4414455" y="4419598"/>
            <a:ext cx="1143000" cy="457200"/>
            <a:chOff x="768" y="2784"/>
            <a:chExt cx="720" cy="288"/>
          </a:xfrm>
        </p:grpSpPr>
        <p:sp>
          <p:nvSpPr>
            <p:cNvPr id="21" name="Rectangle 20"/>
            <p:cNvSpPr>
              <a:spLocks noChangeArrowheads="1"/>
            </p:cNvSpPr>
            <p:nvPr/>
          </p:nvSpPr>
          <p:spPr bwMode="auto">
            <a:xfrm>
              <a:off x="768" y="2784"/>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r>
                <a:rPr lang="en-US" altLang="ja-JP" sz="2400">
                  <a:solidFill>
                    <a:schemeClr val="bg1"/>
                  </a:solidFill>
                </a:rPr>
                <a:t>45</a:t>
              </a:r>
            </a:p>
          </p:txBody>
        </p:sp>
        <p:sp>
          <p:nvSpPr>
            <p:cNvPr id="22" name="Rectangle 21"/>
            <p:cNvSpPr>
              <a:spLocks noChangeArrowheads="1"/>
            </p:cNvSpPr>
            <p:nvPr/>
          </p:nvSpPr>
          <p:spPr bwMode="auto">
            <a:xfrm>
              <a:off x="1056" y="2784"/>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endParaRPr lang="en-US">
                <a:solidFill>
                  <a:schemeClr val="bg1"/>
                </a:solidFill>
              </a:endParaRPr>
            </a:p>
          </p:txBody>
        </p:sp>
        <p:sp>
          <p:nvSpPr>
            <p:cNvPr id="23" name="Line 11"/>
            <p:cNvSpPr>
              <a:spLocks noChangeShapeType="1"/>
            </p:cNvSpPr>
            <p:nvPr/>
          </p:nvSpPr>
          <p:spPr bwMode="auto">
            <a:xfrm>
              <a:off x="1200" y="2928"/>
              <a:ext cx="288"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endParaRPr lang="en-US">
                <a:solidFill>
                  <a:schemeClr val="bg1"/>
                </a:solidFill>
              </a:endParaRPr>
            </a:p>
          </p:txBody>
        </p:sp>
      </p:grpSp>
      <p:grpSp>
        <p:nvGrpSpPr>
          <p:cNvPr id="7" name="Group 6"/>
          <p:cNvGrpSpPr>
            <a:grpSpLocks/>
          </p:cNvGrpSpPr>
          <p:nvPr/>
        </p:nvGrpSpPr>
        <p:grpSpPr bwMode="auto">
          <a:xfrm>
            <a:off x="5557455" y="4419598"/>
            <a:ext cx="1143000" cy="457200"/>
            <a:chOff x="768" y="2784"/>
            <a:chExt cx="720" cy="288"/>
          </a:xfrm>
        </p:grpSpPr>
        <p:sp>
          <p:nvSpPr>
            <p:cNvPr id="18" name="Rectangle 17"/>
            <p:cNvSpPr>
              <a:spLocks noChangeArrowheads="1"/>
            </p:cNvSpPr>
            <p:nvPr/>
          </p:nvSpPr>
          <p:spPr bwMode="auto">
            <a:xfrm>
              <a:off x="768" y="2784"/>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r>
                <a:rPr lang="en-US" altLang="ja-JP" sz="2400" dirty="0">
                  <a:solidFill>
                    <a:schemeClr val="bg1"/>
                  </a:solidFill>
                </a:rPr>
                <a:t>51</a:t>
              </a:r>
            </a:p>
          </p:txBody>
        </p:sp>
        <p:sp>
          <p:nvSpPr>
            <p:cNvPr id="19" name="Rectangle 18"/>
            <p:cNvSpPr>
              <a:spLocks noChangeArrowheads="1"/>
            </p:cNvSpPr>
            <p:nvPr/>
          </p:nvSpPr>
          <p:spPr bwMode="auto">
            <a:xfrm>
              <a:off x="1056" y="2784"/>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endParaRPr lang="en-US">
                <a:solidFill>
                  <a:schemeClr val="bg1"/>
                </a:solidFill>
              </a:endParaRPr>
            </a:p>
          </p:txBody>
        </p:sp>
        <p:sp>
          <p:nvSpPr>
            <p:cNvPr id="20" name="Line 15"/>
            <p:cNvSpPr>
              <a:spLocks noChangeShapeType="1"/>
            </p:cNvSpPr>
            <p:nvPr/>
          </p:nvSpPr>
          <p:spPr bwMode="auto">
            <a:xfrm>
              <a:off x="1200" y="2928"/>
              <a:ext cx="288"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endParaRPr lang="en-US">
                <a:solidFill>
                  <a:schemeClr val="bg1"/>
                </a:solidFill>
              </a:endParaRPr>
            </a:p>
          </p:txBody>
        </p:sp>
      </p:grpSp>
      <p:grpSp>
        <p:nvGrpSpPr>
          <p:cNvPr id="8" name="Group 7"/>
          <p:cNvGrpSpPr>
            <a:grpSpLocks/>
          </p:cNvGrpSpPr>
          <p:nvPr/>
        </p:nvGrpSpPr>
        <p:grpSpPr bwMode="auto">
          <a:xfrm>
            <a:off x="6700455" y="4419598"/>
            <a:ext cx="1143000" cy="457200"/>
            <a:chOff x="768" y="2784"/>
            <a:chExt cx="720" cy="288"/>
          </a:xfrm>
        </p:grpSpPr>
        <p:sp>
          <p:nvSpPr>
            <p:cNvPr id="15" name="Rectangle 14"/>
            <p:cNvSpPr>
              <a:spLocks noChangeArrowheads="1"/>
            </p:cNvSpPr>
            <p:nvPr/>
          </p:nvSpPr>
          <p:spPr bwMode="auto">
            <a:xfrm>
              <a:off x="768" y="2784"/>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r>
                <a:rPr lang="en-US" altLang="ja-JP" sz="2400">
                  <a:solidFill>
                    <a:schemeClr val="bg1"/>
                  </a:solidFill>
                </a:rPr>
                <a:t>76</a:t>
              </a:r>
            </a:p>
          </p:txBody>
        </p:sp>
        <p:sp>
          <p:nvSpPr>
            <p:cNvPr id="16" name="Rectangle 15"/>
            <p:cNvSpPr>
              <a:spLocks noChangeArrowheads="1"/>
            </p:cNvSpPr>
            <p:nvPr/>
          </p:nvSpPr>
          <p:spPr bwMode="auto">
            <a:xfrm>
              <a:off x="1056" y="2784"/>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endParaRPr lang="en-US">
                <a:solidFill>
                  <a:schemeClr val="bg1"/>
                </a:solidFill>
              </a:endParaRPr>
            </a:p>
          </p:txBody>
        </p:sp>
        <p:sp>
          <p:nvSpPr>
            <p:cNvPr id="17" name="Line 19"/>
            <p:cNvSpPr>
              <a:spLocks noChangeShapeType="1"/>
            </p:cNvSpPr>
            <p:nvPr/>
          </p:nvSpPr>
          <p:spPr bwMode="auto">
            <a:xfrm>
              <a:off x="1200" y="2928"/>
              <a:ext cx="288"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endParaRPr lang="en-US">
                <a:solidFill>
                  <a:schemeClr val="bg1"/>
                </a:solidFill>
              </a:endParaRPr>
            </a:p>
          </p:txBody>
        </p:sp>
      </p:grpSp>
      <p:sp>
        <p:nvSpPr>
          <p:cNvPr id="9" name="Text Box 20"/>
          <p:cNvSpPr txBox="1">
            <a:spLocks noChangeArrowheads="1"/>
          </p:cNvSpPr>
          <p:nvPr/>
        </p:nvSpPr>
        <p:spPr bwMode="auto">
          <a:xfrm>
            <a:off x="7710105" y="4419598"/>
            <a:ext cx="81915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r>
              <a:rPr lang="en-US" altLang="ja-JP" sz="1800" b="1">
                <a:solidFill>
                  <a:schemeClr val="bg1"/>
                </a:solidFill>
              </a:rPr>
              <a:t>NULL</a:t>
            </a:r>
          </a:p>
        </p:txBody>
      </p:sp>
      <p:grpSp>
        <p:nvGrpSpPr>
          <p:cNvPr id="10" name="Group 9"/>
          <p:cNvGrpSpPr>
            <a:grpSpLocks/>
          </p:cNvGrpSpPr>
          <p:nvPr/>
        </p:nvGrpSpPr>
        <p:grpSpPr bwMode="auto">
          <a:xfrm>
            <a:off x="2318955" y="4419598"/>
            <a:ext cx="952500" cy="457200"/>
            <a:chOff x="972" y="2592"/>
            <a:chExt cx="600" cy="288"/>
          </a:xfrm>
        </p:grpSpPr>
        <p:sp>
          <p:nvSpPr>
            <p:cNvPr id="13" name="Line 22"/>
            <p:cNvSpPr>
              <a:spLocks noChangeShapeType="1"/>
            </p:cNvSpPr>
            <p:nvPr/>
          </p:nvSpPr>
          <p:spPr bwMode="auto">
            <a:xfrm>
              <a:off x="1284" y="2736"/>
              <a:ext cx="288"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endParaRPr lang="en-US">
                <a:solidFill>
                  <a:schemeClr val="bg1"/>
                </a:solidFill>
              </a:endParaRPr>
            </a:p>
          </p:txBody>
        </p:sp>
        <p:sp>
          <p:nvSpPr>
            <p:cNvPr id="14" name="Rectangle 13"/>
            <p:cNvSpPr>
              <a:spLocks noChangeArrowheads="1"/>
            </p:cNvSpPr>
            <p:nvPr/>
          </p:nvSpPr>
          <p:spPr bwMode="auto">
            <a:xfrm>
              <a:off x="972" y="2592"/>
              <a:ext cx="40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r>
                <a:rPr lang="en-US" altLang="ja-JP" sz="1200" b="1" dirty="0">
                  <a:solidFill>
                    <a:schemeClr val="bg1"/>
                  </a:solidFill>
                </a:rPr>
                <a:t>list1</a:t>
              </a:r>
            </a:p>
            <a:p>
              <a:r>
                <a:rPr lang="en-US" altLang="ja-JP" sz="1200" b="1" dirty="0">
                  <a:solidFill>
                    <a:schemeClr val="bg1"/>
                  </a:solidFill>
                </a:rPr>
                <a:t> header</a:t>
              </a:r>
            </a:p>
          </p:txBody>
        </p:sp>
      </p:grpSp>
      <p:grpSp>
        <p:nvGrpSpPr>
          <p:cNvPr id="27" name="Group 26"/>
          <p:cNvGrpSpPr/>
          <p:nvPr/>
        </p:nvGrpSpPr>
        <p:grpSpPr>
          <a:xfrm>
            <a:off x="2318955" y="4876798"/>
            <a:ext cx="952500" cy="838200"/>
            <a:chOff x="2318955" y="4876798"/>
            <a:chExt cx="952500" cy="838200"/>
          </a:xfrm>
        </p:grpSpPr>
        <p:sp>
          <p:nvSpPr>
            <p:cNvPr id="11" name="Line 27"/>
            <p:cNvSpPr>
              <a:spLocks noChangeShapeType="1"/>
            </p:cNvSpPr>
            <p:nvPr/>
          </p:nvSpPr>
          <p:spPr bwMode="auto">
            <a:xfrm flipV="1">
              <a:off x="2814255" y="4876798"/>
              <a:ext cx="457200" cy="60960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endParaRPr lang="en-US">
                <a:solidFill>
                  <a:schemeClr val="bg1"/>
                </a:solidFill>
              </a:endParaRPr>
            </a:p>
          </p:txBody>
        </p:sp>
        <p:sp>
          <p:nvSpPr>
            <p:cNvPr id="12" name="Rectangle 11"/>
            <p:cNvSpPr>
              <a:spLocks noChangeArrowheads="1"/>
            </p:cNvSpPr>
            <p:nvPr/>
          </p:nvSpPr>
          <p:spPr bwMode="auto">
            <a:xfrm>
              <a:off x="2318955" y="5257798"/>
              <a:ext cx="6477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r>
                <a:rPr lang="en-US" altLang="ja-JP" sz="1200" b="1" dirty="0">
                  <a:solidFill>
                    <a:schemeClr val="bg1"/>
                  </a:solidFill>
                </a:rPr>
                <a:t>list2</a:t>
              </a:r>
            </a:p>
            <a:p>
              <a:r>
                <a:rPr lang="en-US" altLang="ja-JP" sz="1200" b="1" dirty="0">
                  <a:solidFill>
                    <a:schemeClr val="bg1"/>
                  </a:solidFill>
                </a:rPr>
                <a:t>header</a:t>
              </a:r>
            </a:p>
          </p:txBody>
        </p:sp>
      </p:grpSp>
    </p:spTree>
    <p:extLst>
      <p:ext uri="{BB962C8B-B14F-4D97-AF65-F5344CB8AC3E}">
        <p14:creationId xmlns:p14="http://schemas.microsoft.com/office/powerpoint/2010/main" val="3521168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Assignment Operator Overloading for </a:t>
            </a:r>
            <a:r>
              <a:rPr lang="en-US" dirty="0" err="1"/>
              <a:t>FloatList</a:t>
            </a:r>
            <a:r>
              <a:rPr lang="en-US" dirty="0"/>
              <a:t> class</a:t>
            </a:r>
          </a:p>
        </p:txBody>
      </p:sp>
      <p:grpSp>
        <p:nvGrpSpPr>
          <p:cNvPr id="4" name="Group 3"/>
          <p:cNvGrpSpPr>
            <a:grpSpLocks/>
          </p:cNvGrpSpPr>
          <p:nvPr/>
        </p:nvGrpSpPr>
        <p:grpSpPr bwMode="auto">
          <a:xfrm>
            <a:off x="2318955" y="4419598"/>
            <a:ext cx="6210300" cy="1295400"/>
            <a:chOff x="888" y="1776"/>
            <a:chExt cx="3912" cy="816"/>
          </a:xfrm>
        </p:grpSpPr>
        <p:grpSp>
          <p:nvGrpSpPr>
            <p:cNvPr id="5" name="Group 4"/>
            <p:cNvGrpSpPr>
              <a:grpSpLocks/>
            </p:cNvGrpSpPr>
            <p:nvPr/>
          </p:nvGrpSpPr>
          <p:grpSpPr bwMode="auto">
            <a:xfrm>
              <a:off x="1488" y="1776"/>
              <a:ext cx="720" cy="288"/>
              <a:chOff x="768" y="2784"/>
              <a:chExt cx="720" cy="288"/>
            </a:xfrm>
          </p:grpSpPr>
          <p:sp>
            <p:nvSpPr>
              <p:cNvPr id="24" name="Rectangle 23"/>
              <p:cNvSpPr>
                <a:spLocks noChangeArrowheads="1"/>
              </p:cNvSpPr>
              <p:nvPr/>
            </p:nvSpPr>
            <p:spPr bwMode="auto">
              <a:xfrm>
                <a:off x="768" y="2784"/>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r>
                  <a:rPr lang="en-US" altLang="ja-JP" sz="2400">
                    <a:solidFill>
                      <a:schemeClr val="bg1"/>
                    </a:solidFill>
                  </a:rPr>
                  <a:t>20</a:t>
                </a:r>
              </a:p>
            </p:txBody>
          </p:sp>
          <p:sp>
            <p:nvSpPr>
              <p:cNvPr id="25" name="Rectangle 24"/>
              <p:cNvSpPr>
                <a:spLocks noChangeArrowheads="1"/>
              </p:cNvSpPr>
              <p:nvPr/>
            </p:nvSpPr>
            <p:spPr bwMode="auto">
              <a:xfrm>
                <a:off x="1056" y="2784"/>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endParaRPr lang="en-US">
                  <a:solidFill>
                    <a:schemeClr val="bg1"/>
                  </a:solidFill>
                </a:endParaRPr>
              </a:p>
            </p:txBody>
          </p:sp>
          <p:sp>
            <p:nvSpPr>
              <p:cNvPr id="26" name="Line 7"/>
              <p:cNvSpPr>
                <a:spLocks noChangeShapeType="1"/>
              </p:cNvSpPr>
              <p:nvPr/>
            </p:nvSpPr>
            <p:spPr bwMode="auto">
              <a:xfrm>
                <a:off x="1200" y="2928"/>
                <a:ext cx="288"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endParaRPr lang="en-US">
                  <a:solidFill>
                    <a:schemeClr val="bg1"/>
                  </a:solidFill>
                </a:endParaRPr>
              </a:p>
            </p:txBody>
          </p:sp>
        </p:grpSp>
        <p:grpSp>
          <p:nvGrpSpPr>
            <p:cNvPr id="6" name="Group 5"/>
            <p:cNvGrpSpPr>
              <a:grpSpLocks/>
            </p:cNvGrpSpPr>
            <p:nvPr/>
          </p:nvGrpSpPr>
          <p:grpSpPr bwMode="auto">
            <a:xfrm>
              <a:off x="2208" y="1776"/>
              <a:ext cx="720" cy="288"/>
              <a:chOff x="768" y="2784"/>
              <a:chExt cx="720" cy="288"/>
            </a:xfrm>
          </p:grpSpPr>
          <p:sp>
            <p:nvSpPr>
              <p:cNvPr id="21" name="Rectangle 20"/>
              <p:cNvSpPr>
                <a:spLocks noChangeArrowheads="1"/>
              </p:cNvSpPr>
              <p:nvPr/>
            </p:nvSpPr>
            <p:spPr bwMode="auto">
              <a:xfrm>
                <a:off x="768" y="2784"/>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r>
                  <a:rPr lang="en-US" altLang="ja-JP" sz="2400">
                    <a:solidFill>
                      <a:schemeClr val="bg1"/>
                    </a:solidFill>
                  </a:rPr>
                  <a:t>45</a:t>
                </a:r>
              </a:p>
            </p:txBody>
          </p:sp>
          <p:sp>
            <p:nvSpPr>
              <p:cNvPr id="22" name="Rectangle 21"/>
              <p:cNvSpPr>
                <a:spLocks noChangeArrowheads="1"/>
              </p:cNvSpPr>
              <p:nvPr/>
            </p:nvSpPr>
            <p:spPr bwMode="auto">
              <a:xfrm>
                <a:off x="1056" y="2784"/>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endParaRPr lang="en-US">
                  <a:solidFill>
                    <a:schemeClr val="bg1"/>
                  </a:solidFill>
                </a:endParaRPr>
              </a:p>
            </p:txBody>
          </p:sp>
          <p:sp>
            <p:nvSpPr>
              <p:cNvPr id="23" name="Line 11"/>
              <p:cNvSpPr>
                <a:spLocks noChangeShapeType="1"/>
              </p:cNvSpPr>
              <p:nvPr/>
            </p:nvSpPr>
            <p:spPr bwMode="auto">
              <a:xfrm>
                <a:off x="1200" y="2928"/>
                <a:ext cx="288"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endParaRPr lang="en-US">
                  <a:solidFill>
                    <a:schemeClr val="bg1"/>
                  </a:solidFill>
                </a:endParaRPr>
              </a:p>
            </p:txBody>
          </p:sp>
        </p:grpSp>
        <p:grpSp>
          <p:nvGrpSpPr>
            <p:cNvPr id="7" name="Group 6"/>
            <p:cNvGrpSpPr>
              <a:grpSpLocks/>
            </p:cNvGrpSpPr>
            <p:nvPr/>
          </p:nvGrpSpPr>
          <p:grpSpPr bwMode="auto">
            <a:xfrm>
              <a:off x="2928" y="1776"/>
              <a:ext cx="720" cy="288"/>
              <a:chOff x="768" y="2784"/>
              <a:chExt cx="720" cy="288"/>
            </a:xfrm>
          </p:grpSpPr>
          <p:sp>
            <p:nvSpPr>
              <p:cNvPr id="18" name="Rectangle 17"/>
              <p:cNvSpPr>
                <a:spLocks noChangeArrowheads="1"/>
              </p:cNvSpPr>
              <p:nvPr/>
            </p:nvSpPr>
            <p:spPr bwMode="auto">
              <a:xfrm>
                <a:off x="768" y="2784"/>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r>
                  <a:rPr lang="en-US" altLang="ja-JP" sz="2400" dirty="0">
                    <a:solidFill>
                      <a:schemeClr val="bg1"/>
                    </a:solidFill>
                  </a:rPr>
                  <a:t>51</a:t>
                </a:r>
              </a:p>
            </p:txBody>
          </p:sp>
          <p:sp>
            <p:nvSpPr>
              <p:cNvPr id="19" name="Rectangle 18"/>
              <p:cNvSpPr>
                <a:spLocks noChangeArrowheads="1"/>
              </p:cNvSpPr>
              <p:nvPr/>
            </p:nvSpPr>
            <p:spPr bwMode="auto">
              <a:xfrm>
                <a:off x="1056" y="2784"/>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endParaRPr lang="en-US">
                  <a:solidFill>
                    <a:schemeClr val="bg1"/>
                  </a:solidFill>
                </a:endParaRPr>
              </a:p>
            </p:txBody>
          </p:sp>
          <p:sp>
            <p:nvSpPr>
              <p:cNvPr id="20" name="Line 15"/>
              <p:cNvSpPr>
                <a:spLocks noChangeShapeType="1"/>
              </p:cNvSpPr>
              <p:nvPr/>
            </p:nvSpPr>
            <p:spPr bwMode="auto">
              <a:xfrm>
                <a:off x="1200" y="2928"/>
                <a:ext cx="288"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endParaRPr lang="en-US">
                  <a:solidFill>
                    <a:schemeClr val="bg1"/>
                  </a:solidFill>
                </a:endParaRPr>
              </a:p>
            </p:txBody>
          </p:sp>
        </p:grpSp>
        <p:grpSp>
          <p:nvGrpSpPr>
            <p:cNvPr id="8" name="Group 7"/>
            <p:cNvGrpSpPr>
              <a:grpSpLocks/>
            </p:cNvGrpSpPr>
            <p:nvPr/>
          </p:nvGrpSpPr>
          <p:grpSpPr bwMode="auto">
            <a:xfrm>
              <a:off x="3648" y="1776"/>
              <a:ext cx="720" cy="288"/>
              <a:chOff x="768" y="2784"/>
              <a:chExt cx="720" cy="288"/>
            </a:xfrm>
          </p:grpSpPr>
          <p:sp>
            <p:nvSpPr>
              <p:cNvPr id="15" name="Rectangle 14"/>
              <p:cNvSpPr>
                <a:spLocks noChangeArrowheads="1"/>
              </p:cNvSpPr>
              <p:nvPr/>
            </p:nvSpPr>
            <p:spPr bwMode="auto">
              <a:xfrm>
                <a:off x="768" y="2784"/>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r>
                  <a:rPr lang="en-US" altLang="ja-JP" sz="2400">
                    <a:solidFill>
                      <a:schemeClr val="bg1"/>
                    </a:solidFill>
                  </a:rPr>
                  <a:t>76</a:t>
                </a:r>
              </a:p>
            </p:txBody>
          </p:sp>
          <p:sp>
            <p:nvSpPr>
              <p:cNvPr id="16" name="Rectangle 15"/>
              <p:cNvSpPr>
                <a:spLocks noChangeArrowheads="1"/>
              </p:cNvSpPr>
              <p:nvPr/>
            </p:nvSpPr>
            <p:spPr bwMode="auto">
              <a:xfrm>
                <a:off x="1056" y="2784"/>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endParaRPr lang="en-US">
                  <a:solidFill>
                    <a:schemeClr val="bg1"/>
                  </a:solidFill>
                </a:endParaRPr>
              </a:p>
            </p:txBody>
          </p:sp>
          <p:sp>
            <p:nvSpPr>
              <p:cNvPr id="17" name="Line 19"/>
              <p:cNvSpPr>
                <a:spLocks noChangeShapeType="1"/>
              </p:cNvSpPr>
              <p:nvPr/>
            </p:nvSpPr>
            <p:spPr bwMode="auto">
              <a:xfrm>
                <a:off x="1200" y="2928"/>
                <a:ext cx="288"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endParaRPr lang="en-US">
                  <a:solidFill>
                    <a:schemeClr val="bg1"/>
                  </a:solidFill>
                </a:endParaRPr>
              </a:p>
            </p:txBody>
          </p:sp>
        </p:grpSp>
        <p:sp>
          <p:nvSpPr>
            <p:cNvPr id="9" name="Text Box 20"/>
            <p:cNvSpPr txBox="1">
              <a:spLocks noChangeArrowheads="1"/>
            </p:cNvSpPr>
            <p:nvPr/>
          </p:nvSpPr>
          <p:spPr bwMode="auto">
            <a:xfrm>
              <a:off x="4284" y="1776"/>
              <a:ext cx="51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r>
                <a:rPr lang="en-US" altLang="ja-JP" sz="1800" b="1">
                  <a:solidFill>
                    <a:schemeClr val="bg1"/>
                  </a:solidFill>
                </a:rPr>
                <a:t>NULL</a:t>
              </a:r>
            </a:p>
          </p:txBody>
        </p:sp>
        <p:grpSp>
          <p:nvGrpSpPr>
            <p:cNvPr id="10" name="Group 9"/>
            <p:cNvGrpSpPr>
              <a:grpSpLocks/>
            </p:cNvGrpSpPr>
            <p:nvPr/>
          </p:nvGrpSpPr>
          <p:grpSpPr bwMode="auto">
            <a:xfrm>
              <a:off x="888" y="1776"/>
              <a:ext cx="600" cy="288"/>
              <a:chOff x="972" y="2592"/>
              <a:chExt cx="600" cy="288"/>
            </a:xfrm>
          </p:grpSpPr>
          <p:sp>
            <p:nvSpPr>
              <p:cNvPr id="13" name="Line 22"/>
              <p:cNvSpPr>
                <a:spLocks noChangeShapeType="1"/>
              </p:cNvSpPr>
              <p:nvPr/>
            </p:nvSpPr>
            <p:spPr bwMode="auto">
              <a:xfrm>
                <a:off x="1284" y="2736"/>
                <a:ext cx="288"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endParaRPr lang="en-US">
                  <a:solidFill>
                    <a:schemeClr val="bg1"/>
                  </a:solidFill>
                </a:endParaRPr>
              </a:p>
            </p:txBody>
          </p:sp>
          <p:sp>
            <p:nvSpPr>
              <p:cNvPr id="14" name="Rectangle 13"/>
              <p:cNvSpPr>
                <a:spLocks noChangeArrowheads="1"/>
              </p:cNvSpPr>
              <p:nvPr/>
            </p:nvSpPr>
            <p:spPr bwMode="auto">
              <a:xfrm>
                <a:off x="972" y="2592"/>
                <a:ext cx="40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r>
                  <a:rPr lang="en-US" altLang="ja-JP" sz="1200" b="1" dirty="0">
                    <a:solidFill>
                      <a:schemeClr val="bg1"/>
                    </a:solidFill>
                  </a:rPr>
                  <a:t>A</a:t>
                </a:r>
              </a:p>
              <a:p>
                <a:r>
                  <a:rPr lang="en-US" altLang="ja-JP" sz="1200" b="1" dirty="0">
                    <a:solidFill>
                      <a:schemeClr val="bg1"/>
                    </a:solidFill>
                  </a:rPr>
                  <a:t> header</a:t>
                </a:r>
              </a:p>
            </p:txBody>
          </p:sp>
        </p:grpSp>
        <p:sp>
          <p:nvSpPr>
            <p:cNvPr id="11" name="Line 27"/>
            <p:cNvSpPr>
              <a:spLocks noChangeShapeType="1"/>
            </p:cNvSpPr>
            <p:nvPr/>
          </p:nvSpPr>
          <p:spPr bwMode="auto">
            <a:xfrm flipV="1">
              <a:off x="1200" y="2064"/>
              <a:ext cx="288" cy="384"/>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endParaRPr lang="en-US">
                <a:solidFill>
                  <a:schemeClr val="bg1"/>
                </a:solidFill>
              </a:endParaRPr>
            </a:p>
          </p:txBody>
        </p:sp>
        <p:sp>
          <p:nvSpPr>
            <p:cNvPr id="12" name="Rectangle 11"/>
            <p:cNvSpPr>
              <a:spLocks noChangeArrowheads="1"/>
            </p:cNvSpPr>
            <p:nvPr/>
          </p:nvSpPr>
          <p:spPr bwMode="auto">
            <a:xfrm>
              <a:off x="888" y="2304"/>
              <a:ext cx="40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r>
                <a:rPr lang="en-US" altLang="ja-JP" sz="1200" b="1" dirty="0">
                  <a:solidFill>
                    <a:schemeClr val="bg1"/>
                  </a:solidFill>
                </a:rPr>
                <a:t>B</a:t>
              </a:r>
            </a:p>
            <a:p>
              <a:r>
                <a:rPr lang="en-US" altLang="ja-JP" sz="1200" b="1" dirty="0">
                  <a:solidFill>
                    <a:schemeClr val="bg1"/>
                  </a:solidFill>
                </a:rPr>
                <a:t>header</a:t>
              </a:r>
            </a:p>
          </p:txBody>
        </p:sp>
      </p:grpSp>
      <p:grpSp>
        <p:nvGrpSpPr>
          <p:cNvPr id="27" name="Group 26"/>
          <p:cNvGrpSpPr>
            <a:grpSpLocks/>
          </p:cNvGrpSpPr>
          <p:nvPr/>
        </p:nvGrpSpPr>
        <p:grpSpPr bwMode="auto">
          <a:xfrm>
            <a:off x="2279844" y="2271540"/>
            <a:ext cx="6248400" cy="1295400"/>
            <a:chOff x="864" y="2976"/>
            <a:chExt cx="3936" cy="816"/>
          </a:xfrm>
        </p:grpSpPr>
        <p:grpSp>
          <p:nvGrpSpPr>
            <p:cNvPr id="28" name="Group 27"/>
            <p:cNvGrpSpPr>
              <a:grpSpLocks/>
            </p:cNvGrpSpPr>
            <p:nvPr/>
          </p:nvGrpSpPr>
          <p:grpSpPr bwMode="auto">
            <a:xfrm>
              <a:off x="1488" y="2976"/>
              <a:ext cx="720" cy="288"/>
              <a:chOff x="768" y="2784"/>
              <a:chExt cx="720" cy="288"/>
            </a:xfrm>
          </p:grpSpPr>
          <p:sp>
            <p:nvSpPr>
              <p:cNvPr id="64" name="Rectangle 63"/>
              <p:cNvSpPr>
                <a:spLocks noChangeArrowheads="1"/>
              </p:cNvSpPr>
              <p:nvPr/>
            </p:nvSpPr>
            <p:spPr bwMode="auto">
              <a:xfrm>
                <a:off x="768" y="2784"/>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r>
                  <a:rPr lang="en-US" altLang="ja-JP" sz="2400">
                    <a:solidFill>
                      <a:schemeClr val="bg1"/>
                    </a:solidFill>
                  </a:rPr>
                  <a:t>20</a:t>
                </a:r>
              </a:p>
            </p:txBody>
          </p:sp>
          <p:sp>
            <p:nvSpPr>
              <p:cNvPr id="65" name="Rectangle 64"/>
              <p:cNvSpPr>
                <a:spLocks noChangeArrowheads="1"/>
              </p:cNvSpPr>
              <p:nvPr/>
            </p:nvSpPr>
            <p:spPr bwMode="auto">
              <a:xfrm>
                <a:off x="1056" y="2784"/>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endParaRPr lang="en-US">
                  <a:solidFill>
                    <a:schemeClr val="bg1"/>
                  </a:solidFill>
                </a:endParaRPr>
              </a:p>
            </p:txBody>
          </p:sp>
          <p:sp>
            <p:nvSpPr>
              <p:cNvPr id="66" name="Line 35"/>
              <p:cNvSpPr>
                <a:spLocks noChangeShapeType="1"/>
              </p:cNvSpPr>
              <p:nvPr/>
            </p:nvSpPr>
            <p:spPr bwMode="auto">
              <a:xfrm>
                <a:off x="1200" y="2928"/>
                <a:ext cx="288"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endParaRPr lang="en-US">
                  <a:solidFill>
                    <a:schemeClr val="bg1"/>
                  </a:solidFill>
                </a:endParaRPr>
              </a:p>
            </p:txBody>
          </p:sp>
        </p:grpSp>
        <p:grpSp>
          <p:nvGrpSpPr>
            <p:cNvPr id="29" name="Group 28"/>
            <p:cNvGrpSpPr>
              <a:grpSpLocks/>
            </p:cNvGrpSpPr>
            <p:nvPr/>
          </p:nvGrpSpPr>
          <p:grpSpPr bwMode="auto">
            <a:xfrm>
              <a:off x="2208" y="2976"/>
              <a:ext cx="720" cy="288"/>
              <a:chOff x="768" y="2784"/>
              <a:chExt cx="720" cy="288"/>
            </a:xfrm>
          </p:grpSpPr>
          <p:sp>
            <p:nvSpPr>
              <p:cNvPr id="61" name="Rectangle 60"/>
              <p:cNvSpPr>
                <a:spLocks noChangeArrowheads="1"/>
              </p:cNvSpPr>
              <p:nvPr/>
            </p:nvSpPr>
            <p:spPr bwMode="auto">
              <a:xfrm>
                <a:off x="768" y="2784"/>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r>
                  <a:rPr lang="en-US" altLang="ja-JP" sz="2400">
                    <a:solidFill>
                      <a:schemeClr val="bg1"/>
                    </a:solidFill>
                  </a:rPr>
                  <a:t>45</a:t>
                </a:r>
              </a:p>
            </p:txBody>
          </p:sp>
          <p:sp>
            <p:nvSpPr>
              <p:cNvPr id="62" name="Rectangle 61"/>
              <p:cNvSpPr>
                <a:spLocks noChangeArrowheads="1"/>
              </p:cNvSpPr>
              <p:nvPr/>
            </p:nvSpPr>
            <p:spPr bwMode="auto">
              <a:xfrm>
                <a:off x="1056" y="2784"/>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endParaRPr lang="en-US">
                  <a:solidFill>
                    <a:schemeClr val="bg1"/>
                  </a:solidFill>
                </a:endParaRPr>
              </a:p>
            </p:txBody>
          </p:sp>
          <p:sp>
            <p:nvSpPr>
              <p:cNvPr id="63" name="Line 39"/>
              <p:cNvSpPr>
                <a:spLocks noChangeShapeType="1"/>
              </p:cNvSpPr>
              <p:nvPr/>
            </p:nvSpPr>
            <p:spPr bwMode="auto">
              <a:xfrm>
                <a:off x="1200" y="2928"/>
                <a:ext cx="288"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endParaRPr lang="en-US">
                  <a:solidFill>
                    <a:schemeClr val="bg1"/>
                  </a:solidFill>
                </a:endParaRPr>
              </a:p>
            </p:txBody>
          </p:sp>
        </p:grpSp>
        <p:grpSp>
          <p:nvGrpSpPr>
            <p:cNvPr id="30" name="Group 29"/>
            <p:cNvGrpSpPr>
              <a:grpSpLocks/>
            </p:cNvGrpSpPr>
            <p:nvPr/>
          </p:nvGrpSpPr>
          <p:grpSpPr bwMode="auto">
            <a:xfrm>
              <a:off x="2928" y="2976"/>
              <a:ext cx="720" cy="288"/>
              <a:chOff x="768" y="2784"/>
              <a:chExt cx="720" cy="288"/>
            </a:xfrm>
          </p:grpSpPr>
          <p:sp>
            <p:nvSpPr>
              <p:cNvPr id="58" name="Rectangle 57"/>
              <p:cNvSpPr>
                <a:spLocks noChangeArrowheads="1"/>
              </p:cNvSpPr>
              <p:nvPr/>
            </p:nvSpPr>
            <p:spPr bwMode="auto">
              <a:xfrm>
                <a:off x="768" y="2784"/>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r>
                  <a:rPr lang="en-US" altLang="ja-JP" sz="2400">
                    <a:solidFill>
                      <a:schemeClr val="bg1"/>
                    </a:solidFill>
                  </a:rPr>
                  <a:t>51</a:t>
                </a:r>
              </a:p>
            </p:txBody>
          </p:sp>
          <p:sp>
            <p:nvSpPr>
              <p:cNvPr id="59" name="Rectangle 58"/>
              <p:cNvSpPr>
                <a:spLocks noChangeArrowheads="1"/>
              </p:cNvSpPr>
              <p:nvPr/>
            </p:nvSpPr>
            <p:spPr bwMode="auto">
              <a:xfrm>
                <a:off x="1056" y="2784"/>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endParaRPr lang="en-US">
                  <a:solidFill>
                    <a:schemeClr val="bg1"/>
                  </a:solidFill>
                </a:endParaRPr>
              </a:p>
            </p:txBody>
          </p:sp>
          <p:sp>
            <p:nvSpPr>
              <p:cNvPr id="60" name="Line 43"/>
              <p:cNvSpPr>
                <a:spLocks noChangeShapeType="1"/>
              </p:cNvSpPr>
              <p:nvPr/>
            </p:nvSpPr>
            <p:spPr bwMode="auto">
              <a:xfrm>
                <a:off x="1200" y="2928"/>
                <a:ext cx="288"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endParaRPr lang="en-US">
                  <a:solidFill>
                    <a:schemeClr val="bg1"/>
                  </a:solidFill>
                </a:endParaRPr>
              </a:p>
            </p:txBody>
          </p:sp>
        </p:grpSp>
        <p:grpSp>
          <p:nvGrpSpPr>
            <p:cNvPr id="31" name="Group 30"/>
            <p:cNvGrpSpPr>
              <a:grpSpLocks/>
            </p:cNvGrpSpPr>
            <p:nvPr/>
          </p:nvGrpSpPr>
          <p:grpSpPr bwMode="auto">
            <a:xfrm>
              <a:off x="3648" y="2976"/>
              <a:ext cx="720" cy="288"/>
              <a:chOff x="768" y="2784"/>
              <a:chExt cx="720" cy="288"/>
            </a:xfrm>
          </p:grpSpPr>
          <p:sp>
            <p:nvSpPr>
              <p:cNvPr id="55" name="Rectangle 54"/>
              <p:cNvSpPr>
                <a:spLocks noChangeArrowheads="1"/>
              </p:cNvSpPr>
              <p:nvPr/>
            </p:nvSpPr>
            <p:spPr bwMode="auto">
              <a:xfrm>
                <a:off x="768" y="2784"/>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r>
                  <a:rPr lang="en-US" altLang="ja-JP" sz="2400">
                    <a:solidFill>
                      <a:schemeClr val="bg1"/>
                    </a:solidFill>
                  </a:rPr>
                  <a:t>76</a:t>
                </a:r>
              </a:p>
            </p:txBody>
          </p:sp>
          <p:sp>
            <p:nvSpPr>
              <p:cNvPr id="56" name="Rectangle 55"/>
              <p:cNvSpPr>
                <a:spLocks noChangeArrowheads="1"/>
              </p:cNvSpPr>
              <p:nvPr/>
            </p:nvSpPr>
            <p:spPr bwMode="auto">
              <a:xfrm>
                <a:off x="1056" y="2784"/>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endParaRPr lang="en-US">
                  <a:solidFill>
                    <a:schemeClr val="bg1"/>
                  </a:solidFill>
                </a:endParaRPr>
              </a:p>
            </p:txBody>
          </p:sp>
          <p:sp>
            <p:nvSpPr>
              <p:cNvPr id="57" name="Line 47"/>
              <p:cNvSpPr>
                <a:spLocks noChangeShapeType="1"/>
              </p:cNvSpPr>
              <p:nvPr/>
            </p:nvSpPr>
            <p:spPr bwMode="auto">
              <a:xfrm>
                <a:off x="1200" y="2928"/>
                <a:ext cx="288"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endParaRPr lang="en-US">
                  <a:solidFill>
                    <a:schemeClr val="bg1"/>
                  </a:solidFill>
                </a:endParaRPr>
              </a:p>
            </p:txBody>
          </p:sp>
        </p:grpSp>
        <p:sp>
          <p:nvSpPr>
            <p:cNvPr id="32" name="Text Box 48"/>
            <p:cNvSpPr txBox="1">
              <a:spLocks noChangeArrowheads="1"/>
            </p:cNvSpPr>
            <p:nvPr/>
          </p:nvSpPr>
          <p:spPr bwMode="auto">
            <a:xfrm>
              <a:off x="4284" y="2976"/>
              <a:ext cx="51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r>
                <a:rPr lang="en-US" altLang="ja-JP" sz="1800" b="1">
                  <a:solidFill>
                    <a:schemeClr val="bg1"/>
                  </a:solidFill>
                </a:rPr>
                <a:t>NULL</a:t>
              </a:r>
            </a:p>
          </p:txBody>
        </p:sp>
        <p:grpSp>
          <p:nvGrpSpPr>
            <p:cNvPr id="33" name="Group 32"/>
            <p:cNvGrpSpPr>
              <a:grpSpLocks/>
            </p:cNvGrpSpPr>
            <p:nvPr/>
          </p:nvGrpSpPr>
          <p:grpSpPr bwMode="auto">
            <a:xfrm>
              <a:off x="864" y="2976"/>
              <a:ext cx="624" cy="288"/>
              <a:chOff x="948" y="2592"/>
              <a:chExt cx="624" cy="288"/>
            </a:xfrm>
          </p:grpSpPr>
          <p:sp>
            <p:nvSpPr>
              <p:cNvPr id="53" name="Line 50"/>
              <p:cNvSpPr>
                <a:spLocks noChangeShapeType="1"/>
              </p:cNvSpPr>
              <p:nvPr/>
            </p:nvSpPr>
            <p:spPr bwMode="auto">
              <a:xfrm>
                <a:off x="1284" y="2736"/>
                <a:ext cx="288"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endParaRPr lang="en-US">
                  <a:solidFill>
                    <a:schemeClr val="bg1"/>
                  </a:solidFill>
                </a:endParaRPr>
              </a:p>
            </p:txBody>
          </p:sp>
          <p:sp>
            <p:nvSpPr>
              <p:cNvPr id="54" name="Rectangle 53"/>
              <p:cNvSpPr>
                <a:spLocks noChangeArrowheads="1"/>
              </p:cNvSpPr>
              <p:nvPr/>
            </p:nvSpPr>
            <p:spPr bwMode="auto">
              <a:xfrm>
                <a:off x="948" y="2592"/>
                <a:ext cx="432"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r>
                  <a:rPr lang="en-US" altLang="ja-JP" sz="1200" b="1" dirty="0">
                    <a:solidFill>
                      <a:schemeClr val="bg1"/>
                    </a:solidFill>
                  </a:rPr>
                  <a:t>A</a:t>
                </a:r>
              </a:p>
              <a:p>
                <a:r>
                  <a:rPr lang="en-US" altLang="ja-JP" sz="1200" b="1" dirty="0">
                    <a:solidFill>
                      <a:schemeClr val="bg1"/>
                    </a:solidFill>
                  </a:rPr>
                  <a:t>header</a:t>
                </a:r>
              </a:p>
            </p:txBody>
          </p:sp>
        </p:grpSp>
        <p:sp>
          <p:nvSpPr>
            <p:cNvPr id="34" name="Line 55"/>
            <p:cNvSpPr>
              <a:spLocks noChangeShapeType="1"/>
            </p:cNvSpPr>
            <p:nvPr/>
          </p:nvSpPr>
          <p:spPr bwMode="auto">
            <a:xfrm flipV="1">
              <a:off x="1200" y="3648"/>
              <a:ext cx="288"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endParaRPr lang="en-US">
                <a:solidFill>
                  <a:schemeClr val="bg1"/>
                </a:solidFill>
              </a:endParaRPr>
            </a:p>
          </p:txBody>
        </p:sp>
        <p:sp>
          <p:nvSpPr>
            <p:cNvPr id="35" name="Rectangle 34"/>
            <p:cNvSpPr>
              <a:spLocks noChangeArrowheads="1"/>
            </p:cNvSpPr>
            <p:nvPr/>
          </p:nvSpPr>
          <p:spPr bwMode="auto">
            <a:xfrm>
              <a:off x="864" y="3504"/>
              <a:ext cx="432"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r>
                <a:rPr lang="en-US" altLang="ja-JP" sz="1200" b="1" dirty="0">
                  <a:solidFill>
                    <a:schemeClr val="bg1"/>
                  </a:solidFill>
                </a:rPr>
                <a:t>B</a:t>
              </a:r>
            </a:p>
            <a:p>
              <a:r>
                <a:rPr lang="en-US" altLang="ja-JP" sz="1200" b="1" dirty="0">
                  <a:solidFill>
                    <a:schemeClr val="bg1"/>
                  </a:solidFill>
                </a:rPr>
                <a:t>header</a:t>
              </a:r>
            </a:p>
          </p:txBody>
        </p:sp>
        <p:grpSp>
          <p:nvGrpSpPr>
            <p:cNvPr id="36" name="Group 35"/>
            <p:cNvGrpSpPr>
              <a:grpSpLocks/>
            </p:cNvGrpSpPr>
            <p:nvPr/>
          </p:nvGrpSpPr>
          <p:grpSpPr bwMode="auto">
            <a:xfrm>
              <a:off x="1488" y="3504"/>
              <a:ext cx="720" cy="288"/>
              <a:chOff x="768" y="2784"/>
              <a:chExt cx="720" cy="288"/>
            </a:xfrm>
          </p:grpSpPr>
          <p:sp>
            <p:nvSpPr>
              <p:cNvPr id="50" name="Rectangle 49"/>
              <p:cNvSpPr>
                <a:spLocks noChangeArrowheads="1"/>
              </p:cNvSpPr>
              <p:nvPr/>
            </p:nvSpPr>
            <p:spPr bwMode="auto">
              <a:xfrm>
                <a:off x="768" y="2784"/>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r>
                  <a:rPr lang="en-US" altLang="ja-JP" sz="2400">
                    <a:solidFill>
                      <a:schemeClr val="bg1"/>
                    </a:solidFill>
                  </a:rPr>
                  <a:t>20</a:t>
                </a:r>
              </a:p>
            </p:txBody>
          </p:sp>
          <p:sp>
            <p:nvSpPr>
              <p:cNvPr id="51" name="Rectangle 50"/>
              <p:cNvSpPr>
                <a:spLocks noChangeArrowheads="1"/>
              </p:cNvSpPr>
              <p:nvPr/>
            </p:nvSpPr>
            <p:spPr bwMode="auto">
              <a:xfrm>
                <a:off x="1056" y="2784"/>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endParaRPr lang="en-US">
                  <a:solidFill>
                    <a:schemeClr val="bg1"/>
                  </a:solidFill>
                </a:endParaRPr>
              </a:p>
            </p:txBody>
          </p:sp>
          <p:sp>
            <p:nvSpPr>
              <p:cNvPr id="52" name="Line 63"/>
              <p:cNvSpPr>
                <a:spLocks noChangeShapeType="1"/>
              </p:cNvSpPr>
              <p:nvPr/>
            </p:nvSpPr>
            <p:spPr bwMode="auto">
              <a:xfrm>
                <a:off x="1200" y="2928"/>
                <a:ext cx="288"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endParaRPr lang="en-US">
                  <a:solidFill>
                    <a:schemeClr val="bg1"/>
                  </a:solidFill>
                </a:endParaRPr>
              </a:p>
            </p:txBody>
          </p:sp>
        </p:grpSp>
        <p:grpSp>
          <p:nvGrpSpPr>
            <p:cNvPr id="37" name="Group 36"/>
            <p:cNvGrpSpPr>
              <a:grpSpLocks/>
            </p:cNvGrpSpPr>
            <p:nvPr/>
          </p:nvGrpSpPr>
          <p:grpSpPr bwMode="auto">
            <a:xfrm>
              <a:off x="2208" y="3504"/>
              <a:ext cx="720" cy="288"/>
              <a:chOff x="768" y="2784"/>
              <a:chExt cx="720" cy="288"/>
            </a:xfrm>
          </p:grpSpPr>
          <p:sp>
            <p:nvSpPr>
              <p:cNvPr id="47" name="Rectangle 46"/>
              <p:cNvSpPr>
                <a:spLocks noChangeArrowheads="1"/>
              </p:cNvSpPr>
              <p:nvPr/>
            </p:nvSpPr>
            <p:spPr bwMode="auto">
              <a:xfrm>
                <a:off x="768" y="2784"/>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r>
                  <a:rPr lang="en-US" altLang="ja-JP" sz="2400" dirty="0">
                    <a:solidFill>
                      <a:schemeClr val="bg1"/>
                    </a:solidFill>
                  </a:rPr>
                  <a:t>45</a:t>
                </a:r>
              </a:p>
            </p:txBody>
          </p:sp>
          <p:sp>
            <p:nvSpPr>
              <p:cNvPr id="48" name="Rectangle 47"/>
              <p:cNvSpPr>
                <a:spLocks noChangeArrowheads="1"/>
              </p:cNvSpPr>
              <p:nvPr/>
            </p:nvSpPr>
            <p:spPr bwMode="auto">
              <a:xfrm>
                <a:off x="1056" y="2784"/>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endParaRPr lang="en-US">
                  <a:solidFill>
                    <a:schemeClr val="bg1"/>
                  </a:solidFill>
                </a:endParaRPr>
              </a:p>
            </p:txBody>
          </p:sp>
          <p:sp>
            <p:nvSpPr>
              <p:cNvPr id="49" name="Line 67"/>
              <p:cNvSpPr>
                <a:spLocks noChangeShapeType="1"/>
              </p:cNvSpPr>
              <p:nvPr/>
            </p:nvSpPr>
            <p:spPr bwMode="auto">
              <a:xfrm>
                <a:off x="1200" y="2928"/>
                <a:ext cx="288"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endParaRPr lang="en-US">
                  <a:solidFill>
                    <a:schemeClr val="bg1"/>
                  </a:solidFill>
                </a:endParaRPr>
              </a:p>
            </p:txBody>
          </p:sp>
        </p:grpSp>
        <p:grpSp>
          <p:nvGrpSpPr>
            <p:cNvPr id="38" name="Group 37"/>
            <p:cNvGrpSpPr>
              <a:grpSpLocks/>
            </p:cNvGrpSpPr>
            <p:nvPr/>
          </p:nvGrpSpPr>
          <p:grpSpPr bwMode="auto">
            <a:xfrm>
              <a:off x="2928" y="3504"/>
              <a:ext cx="720" cy="288"/>
              <a:chOff x="768" y="2784"/>
              <a:chExt cx="720" cy="288"/>
            </a:xfrm>
          </p:grpSpPr>
          <p:sp>
            <p:nvSpPr>
              <p:cNvPr id="44" name="Rectangle 43"/>
              <p:cNvSpPr>
                <a:spLocks noChangeArrowheads="1"/>
              </p:cNvSpPr>
              <p:nvPr/>
            </p:nvSpPr>
            <p:spPr bwMode="auto">
              <a:xfrm>
                <a:off x="768" y="2784"/>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r>
                  <a:rPr lang="en-US" altLang="ja-JP" sz="2400">
                    <a:solidFill>
                      <a:schemeClr val="bg1"/>
                    </a:solidFill>
                  </a:rPr>
                  <a:t>51</a:t>
                </a:r>
              </a:p>
            </p:txBody>
          </p:sp>
          <p:sp>
            <p:nvSpPr>
              <p:cNvPr id="45" name="Rectangle 44"/>
              <p:cNvSpPr>
                <a:spLocks noChangeArrowheads="1"/>
              </p:cNvSpPr>
              <p:nvPr/>
            </p:nvSpPr>
            <p:spPr bwMode="auto">
              <a:xfrm>
                <a:off x="1056" y="2784"/>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endParaRPr lang="en-US">
                  <a:solidFill>
                    <a:schemeClr val="bg1"/>
                  </a:solidFill>
                </a:endParaRPr>
              </a:p>
            </p:txBody>
          </p:sp>
          <p:sp>
            <p:nvSpPr>
              <p:cNvPr id="46" name="Line 71"/>
              <p:cNvSpPr>
                <a:spLocks noChangeShapeType="1"/>
              </p:cNvSpPr>
              <p:nvPr/>
            </p:nvSpPr>
            <p:spPr bwMode="auto">
              <a:xfrm>
                <a:off x="1200" y="2928"/>
                <a:ext cx="288"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endParaRPr lang="en-US">
                  <a:solidFill>
                    <a:schemeClr val="bg1"/>
                  </a:solidFill>
                </a:endParaRPr>
              </a:p>
            </p:txBody>
          </p:sp>
        </p:grpSp>
        <p:grpSp>
          <p:nvGrpSpPr>
            <p:cNvPr id="39" name="Group 38"/>
            <p:cNvGrpSpPr>
              <a:grpSpLocks/>
            </p:cNvGrpSpPr>
            <p:nvPr/>
          </p:nvGrpSpPr>
          <p:grpSpPr bwMode="auto">
            <a:xfrm>
              <a:off x="3648" y="3504"/>
              <a:ext cx="720" cy="288"/>
              <a:chOff x="768" y="2784"/>
              <a:chExt cx="720" cy="288"/>
            </a:xfrm>
          </p:grpSpPr>
          <p:sp>
            <p:nvSpPr>
              <p:cNvPr id="41" name="Rectangle 40"/>
              <p:cNvSpPr>
                <a:spLocks noChangeArrowheads="1"/>
              </p:cNvSpPr>
              <p:nvPr/>
            </p:nvSpPr>
            <p:spPr bwMode="auto">
              <a:xfrm>
                <a:off x="768" y="2784"/>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r>
                  <a:rPr lang="en-US" altLang="ja-JP" sz="2400">
                    <a:solidFill>
                      <a:schemeClr val="bg1"/>
                    </a:solidFill>
                  </a:rPr>
                  <a:t>76</a:t>
                </a:r>
              </a:p>
            </p:txBody>
          </p:sp>
          <p:sp>
            <p:nvSpPr>
              <p:cNvPr id="42" name="Rectangle 41"/>
              <p:cNvSpPr>
                <a:spLocks noChangeArrowheads="1"/>
              </p:cNvSpPr>
              <p:nvPr/>
            </p:nvSpPr>
            <p:spPr bwMode="auto">
              <a:xfrm>
                <a:off x="1056" y="2784"/>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endParaRPr lang="en-US">
                  <a:solidFill>
                    <a:schemeClr val="bg1"/>
                  </a:solidFill>
                </a:endParaRPr>
              </a:p>
            </p:txBody>
          </p:sp>
          <p:sp>
            <p:nvSpPr>
              <p:cNvPr id="43" name="Line 75"/>
              <p:cNvSpPr>
                <a:spLocks noChangeShapeType="1"/>
              </p:cNvSpPr>
              <p:nvPr/>
            </p:nvSpPr>
            <p:spPr bwMode="auto">
              <a:xfrm>
                <a:off x="1200" y="2928"/>
                <a:ext cx="288"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endParaRPr lang="en-US">
                  <a:solidFill>
                    <a:schemeClr val="bg1"/>
                  </a:solidFill>
                </a:endParaRPr>
              </a:p>
            </p:txBody>
          </p:sp>
        </p:grpSp>
        <p:sp>
          <p:nvSpPr>
            <p:cNvPr id="40" name="Text Box 76"/>
            <p:cNvSpPr txBox="1">
              <a:spLocks noChangeArrowheads="1"/>
            </p:cNvSpPr>
            <p:nvPr/>
          </p:nvSpPr>
          <p:spPr bwMode="auto">
            <a:xfrm>
              <a:off x="4284" y="3504"/>
              <a:ext cx="51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1pPr>
              <a:lvl2pPr marL="4572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2pPr>
              <a:lvl3pPr marL="9144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3pPr>
              <a:lvl4pPr marL="13716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4pPr>
              <a:lvl5pPr marL="1828800" algn="ctr" rtl="0" fontAlgn="base">
                <a:spcBef>
                  <a:spcPct val="0"/>
                </a:spcBef>
                <a:spcAft>
                  <a:spcPct val="0"/>
                </a:spcAft>
                <a:defRPr kumimoji="1" sz="2800" kern="1200">
                  <a:solidFill>
                    <a:schemeClr val="tx1"/>
                  </a:solidFill>
                  <a:latin typeface="Times New Roman" pitchFamily="18" charset="0"/>
                  <a:ea typeface="ＭＳ Ｐゴシック" pitchFamily="34" charset="-128"/>
                  <a:cs typeface="+mn-cs"/>
                </a:defRPr>
              </a:lvl5pPr>
              <a:lvl6pPr marL="22860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6pPr>
              <a:lvl7pPr marL="27432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7pPr>
              <a:lvl8pPr marL="32004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8pPr>
              <a:lvl9pPr marL="3657600" algn="l" defTabSz="914400" rtl="0" eaLnBrk="1" latinLnBrk="0" hangingPunct="1">
                <a:defRPr kumimoji="1" sz="2800" kern="1200">
                  <a:solidFill>
                    <a:schemeClr val="tx1"/>
                  </a:solidFill>
                  <a:latin typeface="Times New Roman" pitchFamily="18" charset="0"/>
                  <a:ea typeface="ＭＳ Ｐゴシック" pitchFamily="34" charset="-128"/>
                  <a:cs typeface="+mn-cs"/>
                </a:defRPr>
              </a:lvl9pPr>
            </a:lstStyle>
            <a:p>
              <a:r>
                <a:rPr lang="en-US" altLang="ja-JP" sz="1800" b="1">
                  <a:solidFill>
                    <a:schemeClr val="bg1"/>
                  </a:solidFill>
                </a:rPr>
                <a:t>NULL</a:t>
              </a:r>
            </a:p>
          </p:txBody>
        </p:sp>
      </p:grpSp>
      <p:sp>
        <p:nvSpPr>
          <p:cNvPr id="3" name="Rectangle 2"/>
          <p:cNvSpPr/>
          <p:nvPr/>
        </p:nvSpPr>
        <p:spPr>
          <a:xfrm>
            <a:off x="1874982" y="2059709"/>
            <a:ext cx="6391563" cy="17087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67" name="Rectangle 66"/>
          <p:cNvSpPr/>
          <p:nvPr/>
        </p:nvSpPr>
        <p:spPr>
          <a:xfrm>
            <a:off x="1861127" y="4216393"/>
            <a:ext cx="6391563" cy="17087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pic>
        <p:nvPicPr>
          <p:cNvPr id="1026" name="Picture 2" descr="Clipart Cross Tick - Correction Tick, HD Png Download - kin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11649" y="2186286"/>
            <a:ext cx="1691698" cy="129016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icrosoft Office Online, Check Mark, X Mark - Fever In Human Cartoon -  (682x1198) Png Clipart Downloa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46195" y="4538873"/>
            <a:ext cx="1222606" cy="1285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6857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026"/>
                                        </p:tgtEl>
                                        <p:attrNameLst>
                                          <p:attrName>style.visibility</p:attrName>
                                        </p:attrNameLst>
                                      </p:cBhvr>
                                      <p:to>
                                        <p:strVal val="visible"/>
                                      </p:to>
                                    </p:set>
                                    <p:anim calcmode="lin" valueType="num">
                                      <p:cBhvr additive="base">
                                        <p:cTn id="15" dur="500" fill="hold"/>
                                        <p:tgtEl>
                                          <p:spTgt spid="1026"/>
                                        </p:tgtEl>
                                        <p:attrNameLst>
                                          <p:attrName>ppt_x</p:attrName>
                                        </p:attrNameLst>
                                      </p:cBhvr>
                                      <p:tavLst>
                                        <p:tav tm="0">
                                          <p:val>
                                            <p:strVal val="#ppt_x"/>
                                          </p:val>
                                        </p:tav>
                                        <p:tav tm="100000">
                                          <p:val>
                                            <p:strVal val="#ppt_x"/>
                                          </p:val>
                                        </p:tav>
                                      </p:tavLst>
                                    </p:anim>
                                    <p:anim calcmode="lin" valueType="num">
                                      <p:cBhvr additive="base">
                                        <p:cTn id="16"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028"/>
                                        </p:tgtEl>
                                        <p:attrNameLst>
                                          <p:attrName>style.visibility</p:attrName>
                                        </p:attrNameLst>
                                      </p:cBhvr>
                                      <p:to>
                                        <p:strVal val="visible"/>
                                      </p:to>
                                    </p:set>
                                    <p:anim calcmode="lin" valueType="num">
                                      <p:cBhvr additive="base">
                                        <p:cTn id="21" dur="500" fill="hold"/>
                                        <p:tgtEl>
                                          <p:spTgt spid="1028"/>
                                        </p:tgtEl>
                                        <p:attrNameLst>
                                          <p:attrName>ppt_x</p:attrName>
                                        </p:attrNameLst>
                                      </p:cBhvr>
                                      <p:tavLst>
                                        <p:tav tm="0">
                                          <p:val>
                                            <p:strVal val="#ppt_x"/>
                                          </p:val>
                                        </p:tav>
                                        <p:tav tm="100000">
                                          <p:val>
                                            <p:strVal val="#ppt_x"/>
                                          </p:val>
                                        </p:tav>
                                      </p:tavLst>
                                    </p:anim>
                                    <p:anim calcmode="lin" valueType="num">
                                      <p:cBhvr additive="base">
                                        <p:cTn id="22" dur="500" fill="hold"/>
                                        <p:tgtEl>
                                          <p:spTgt spid="10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Assignment Operator</a:t>
            </a:r>
            <a:r>
              <a:rPr lang="en-PK" dirty="0"/>
              <a:t> Overloading</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2556" y="2071688"/>
            <a:ext cx="6860458" cy="3365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865745" y="2392219"/>
            <a:ext cx="5061528" cy="3131127"/>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089389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2"/>
                                        </p:tgtEl>
                                        <p:attrNameLst>
                                          <p:attrName>ppt_x</p:attrName>
                                        </p:attrNameLst>
                                      </p:cBhvr>
                                      <p:tavLst>
                                        <p:tav tm="0">
                                          <p:val>
                                            <p:strVal val="ppt_x"/>
                                          </p:val>
                                        </p:tav>
                                        <p:tav tm="100000">
                                          <p:val>
                                            <p:strVal val="ppt_x"/>
                                          </p:val>
                                        </p:tav>
                                      </p:tavLst>
                                    </p:anim>
                                    <p:anim calcmode="lin" valueType="num">
                                      <p:cBhvr additive="base">
                                        <p:cTn id="7" dur="500"/>
                                        <p:tgtEl>
                                          <p:spTgt spid="2"/>
                                        </p:tgtEl>
                                        <p:attrNameLst>
                                          <p:attrName>ppt_y</p:attrName>
                                        </p:attrNameLst>
                                      </p:cBhvr>
                                      <p:tavLst>
                                        <p:tav tm="0">
                                          <p:val>
                                            <p:strVal val="ppt_y"/>
                                          </p:val>
                                        </p:tav>
                                        <p:tav tm="100000">
                                          <p:val>
                                            <p:strVal val="1+ppt_h/2"/>
                                          </p:val>
                                        </p:tav>
                                      </p:tavLst>
                                    </p:anim>
                                    <p:set>
                                      <p:cBhvr>
                                        <p:cTn id="8"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Copy Constructor</a:t>
            </a:r>
          </a:p>
        </p:txBody>
      </p:sp>
      <p:sp>
        <p:nvSpPr>
          <p:cNvPr id="2" name="Content Placeholder 1"/>
          <p:cNvSpPr>
            <a:spLocks noGrp="1"/>
          </p:cNvSpPr>
          <p:nvPr>
            <p:ph idx="1"/>
          </p:nvPr>
        </p:nvSpPr>
        <p:spPr/>
        <p:txBody>
          <a:bodyPr/>
          <a:lstStyle/>
          <a:p>
            <a:r>
              <a:rPr lang="en-US" dirty="0"/>
              <a:t>The copy constructor is a </a:t>
            </a:r>
            <a:r>
              <a:rPr lang="en-US" b="1" dirty="0"/>
              <a:t>constructor which creates an object by initializing it with an object of the same class</a:t>
            </a:r>
            <a:r>
              <a:rPr lang="en-US" dirty="0"/>
              <a:t>, which has been created previously</a:t>
            </a:r>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88712"/>
          <a:stretch/>
        </p:blipFill>
        <p:spPr bwMode="auto">
          <a:xfrm>
            <a:off x="1695234" y="3278315"/>
            <a:ext cx="6778397" cy="443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242188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Copy Constructor</a:t>
            </a:r>
          </a:p>
        </p:txBody>
      </p:sp>
      <p:sp>
        <p:nvSpPr>
          <p:cNvPr id="3" name="Content Placeholder 2"/>
          <p:cNvSpPr>
            <a:spLocks noGrp="1"/>
          </p:cNvSpPr>
          <p:nvPr>
            <p:ph idx="1"/>
          </p:nvPr>
        </p:nvSpPr>
        <p:spPr/>
        <p:txBody>
          <a:bodyPr>
            <a:normAutofit/>
          </a:bodyPr>
          <a:lstStyle/>
          <a:p>
            <a:r>
              <a:rPr lang="en-US" sz="2400" dirty="0"/>
              <a:t>A class with dynamic memory allocation also needs a copy constructor in scenarios, where a class object has to be used as a parameter in some function.</a:t>
            </a:r>
          </a:p>
          <a:p>
            <a:r>
              <a:rPr lang="en-US" sz="2400" dirty="0"/>
              <a:t>The copy constructor automatically executes in three situations:</a:t>
            </a:r>
          </a:p>
          <a:p>
            <a:pPr marL="658368" lvl="1" indent="-457200">
              <a:buFont typeface="+mj-lt"/>
              <a:buAutoNum type="arabicPeriod"/>
            </a:pPr>
            <a:r>
              <a:rPr lang="en-US" sz="2000" dirty="0"/>
              <a:t>When an object is declared and initialized by using the value of another object</a:t>
            </a:r>
          </a:p>
          <a:p>
            <a:pPr marL="658368" lvl="1" indent="-457200">
              <a:buFont typeface="+mj-lt"/>
              <a:buAutoNum type="arabicPeriod"/>
            </a:pPr>
            <a:r>
              <a:rPr lang="en-US" sz="2000" dirty="0"/>
              <a:t>When, as a parameter, an object is passed by value</a:t>
            </a:r>
          </a:p>
        </p:txBody>
      </p:sp>
    </p:spTree>
    <p:extLst>
      <p:ext uri="{BB962C8B-B14F-4D97-AF65-F5344CB8AC3E}">
        <p14:creationId xmlns:p14="http://schemas.microsoft.com/office/powerpoint/2010/main" val="32904536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615787"/>
            <a:ext cx="10058400" cy="993557"/>
          </a:xfrm>
        </p:spPr>
        <p:txBody>
          <a:bodyPr>
            <a:normAutofit/>
          </a:bodyPr>
          <a:lstStyle/>
          <a:p>
            <a:pPr marL="914400" indent="-914400">
              <a:buFont typeface="+mj-lt"/>
              <a:buAutoNum type="arabicPeriod"/>
            </a:pPr>
            <a:r>
              <a:rPr lang="en-PK" sz="4000" dirty="0"/>
              <a:t>New object creation using existing object</a:t>
            </a:r>
            <a:endParaRPr lang="en-US" sz="4000" dirty="0"/>
          </a:p>
        </p:txBody>
      </p:sp>
      <p:sp>
        <p:nvSpPr>
          <p:cNvPr id="3" name="Content Placeholder 2"/>
          <p:cNvSpPr>
            <a:spLocks noGrp="1"/>
          </p:cNvSpPr>
          <p:nvPr>
            <p:ph idx="1"/>
          </p:nvPr>
        </p:nvSpPr>
        <p:spPr>
          <a:xfrm>
            <a:off x="1097280" y="1845734"/>
            <a:ext cx="5303520" cy="4023360"/>
          </a:xfrm>
        </p:spPr>
        <p:txBody>
          <a:bodyPr/>
          <a:lstStyle/>
          <a:p>
            <a:r>
              <a:rPr lang="en-PK" b="1" dirty="0"/>
              <a:t>FloatList listA;</a:t>
            </a:r>
          </a:p>
          <a:p>
            <a:r>
              <a:rPr lang="en-PK" i="1" dirty="0"/>
              <a:t>//assuming list has been populated with some values</a:t>
            </a:r>
          </a:p>
          <a:p>
            <a:r>
              <a:rPr lang="en-PK" b="1" dirty="0" err="1"/>
              <a:t>FloatList</a:t>
            </a:r>
            <a:r>
              <a:rPr lang="en-PK" b="1" dirty="0"/>
              <a:t> </a:t>
            </a:r>
            <a:r>
              <a:rPr lang="en-PK" b="1" dirty="0" err="1"/>
              <a:t>listB</a:t>
            </a:r>
            <a:r>
              <a:rPr lang="en-PK" b="1" dirty="0"/>
              <a:t>( </a:t>
            </a:r>
            <a:r>
              <a:rPr lang="en-PK" b="1" dirty="0" err="1"/>
              <a:t>listA</a:t>
            </a:r>
            <a:r>
              <a:rPr lang="en-PK" b="1" dirty="0"/>
              <a:t> );</a:t>
            </a:r>
          </a:p>
          <a:p>
            <a:r>
              <a:rPr lang="en-PK" i="1" dirty="0"/>
              <a:t>//this is a call to a copy constructor, which should populate listB with same values as of listA</a:t>
            </a:r>
            <a:endParaRPr lang="en-US" i="1" dirty="0"/>
          </a:p>
        </p:txBody>
      </p:sp>
      <p:pic>
        <p:nvPicPr>
          <p:cNvPr id="4" name="Picture 3">
            <a:extLst>
              <a:ext uri="{FF2B5EF4-FFF2-40B4-BE49-F238E27FC236}">
                <a16:creationId xmlns:a16="http://schemas.microsoft.com/office/drawing/2014/main" id="{43325766-8544-9807-B473-76D760A3001C}"/>
              </a:ext>
            </a:extLst>
          </p:cNvPr>
          <p:cNvPicPr>
            <a:picLocks noChangeAspect="1"/>
          </p:cNvPicPr>
          <p:nvPr/>
        </p:nvPicPr>
        <p:blipFill>
          <a:blip r:embed="rId2"/>
          <a:stretch>
            <a:fillRect/>
          </a:stretch>
        </p:blipFill>
        <p:spPr>
          <a:xfrm>
            <a:off x="6512397" y="2128275"/>
            <a:ext cx="4966607" cy="2876344"/>
          </a:xfrm>
          <a:prstGeom prst="rect">
            <a:avLst/>
          </a:prstGeom>
          <a:ln w="19050">
            <a:solidFill>
              <a:schemeClr val="accent1">
                <a:lumMod val="75000"/>
              </a:schemeClr>
            </a:solidFill>
          </a:ln>
        </p:spPr>
      </p:pic>
    </p:spTree>
    <p:extLst>
      <p:ext uri="{BB962C8B-B14F-4D97-AF65-F5344CB8AC3E}">
        <p14:creationId xmlns:p14="http://schemas.microsoft.com/office/powerpoint/2010/main" val="3212209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68131"/>
            <a:ext cx="10058400" cy="1015418"/>
          </a:xfrm>
        </p:spPr>
        <p:txBody>
          <a:bodyPr/>
          <a:lstStyle/>
          <a:p>
            <a:r>
              <a:rPr lang="en-US" dirty="0"/>
              <a:t>2. </a:t>
            </a:r>
            <a:r>
              <a:rPr lang="en-US" dirty="0" err="1"/>
              <a:t>floatList</a:t>
            </a:r>
            <a:r>
              <a:rPr lang="en-US" dirty="0"/>
              <a:t> object passed as value</a:t>
            </a:r>
          </a:p>
        </p:txBody>
      </p:sp>
      <p:sp>
        <p:nvSpPr>
          <p:cNvPr id="3" name="Content Placeholder 2"/>
          <p:cNvSpPr>
            <a:spLocks noGrp="1"/>
          </p:cNvSpPr>
          <p:nvPr>
            <p:ph idx="1"/>
          </p:nvPr>
        </p:nvSpPr>
        <p:spPr>
          <a:xfrm>
            <a:off x="845820" y="1417320"/>
            <a:ext cx="10058400" cy="4023360"/>
          </a:xfrm>
        </p:spPr>
        <p:txBody>
          <a:bodyPr>
            <a:normAutofit/>
          </a:bodyPr>
          <a:lstStyle/>
          <a:p>
            <a:pPr marL="0" indent="0">
              <a:buNone/>
            </a:pPr>
            <a:endParaRPr lang="en-US" sz="2400" dirty="0"/>
          </a:p>
          <a:p>
            <a:pPr lvl="1"/>
            <a:r>
              <a:rPr lang="en-US" sz="2400" dirty="0" err="1"/>
              <a:t>FloatList</a:t>
            </a:r>
            <a:r>
              <a:rPr lang="en-US" sz="2400" dirty="0"/>
              <a:t> list1;</a:t>
            </a:r>
          </a:p>
          <a:p>
            <a:pPr marL="457200" lvl="1" indent="0">
              <a:buNone/>
            </a:pPr>
            <a:r>
              <a:rPr lang="en-US" sz="2400" dirty="0"/>
              <a:t>	//assuming list1 have some values</a:t>
            </a:r>
          </a:p>
          <a:p>
            <a:pPr lvl="1"/>
            <a:r>
              <a:rPr lang="en-US" sz="2400" dirty="0" err="1"/>
              <a:t>xFunc</a:t>
            </a:r>
            <a:r>
              <a:rPr lang="en-US" sz="2400" dirty="0"/>
              <a:t>(list1);</a:t>
            </a:r>
          </a:p>
          <a:p>
            <a:pPr marL="0" indent="0">
              <a:buNone/>
            </a:pPr>
            <a:endParaRPr lang="en-US" sz="2400" dirty="0"/>
          </a:p>
          <a:p>
            <a:pPr marL="0" indent="0">
              <a:buNone/>
            </a:pPr>
            <a:r>
              <a:rPr lang="en-US" sz="2400" dirty="0"/>
              <a:t>If copy const is not defined, then default member wise copy will take place, temp head will get list1 head address,  thus rather having its own nodes, temp will point to the nodes of list1. </a:t>
            </a:r>
          </a:p>
        </p:txBody>
      </p:sp>
      <p:sp>
        <p:nvSpPr>
          <p:cNvPr id="4" name="TextBox 3"/>
          <p:cNvSpPr txBox="1"/>
          <p:nvPr/>
        </p:nvSpPr>
        <p:spPr>
          <a:xfrm>
            <a:off x="7165259" y="2050553"/>
            <a:ext cx="3125448" cy="1200329"/>
          </a:xfrm>
          <a:prstGeom prst="rect">
            <a:avLst/>
          </a:prstGeom>
          <a:solidFill>
            <a:schemeClr val="accent2">
              <a:lumMod val="20000"/>
              <a:lumOff val="80000"/>
            </a:schemeClr>
          </a:solidFill>
        </p:spPr>
        <p:txBody>
          <a:bodyPr wrap="square" rtlCol="0">
            <a:spAutoFit/>
          </a:bodyPr>
          <a:lstStyle/>
          <a:p>
            <a:endParaRPr lang="en-US" b="1" dirty="0">
              <a:solidFill>
                <a:schemeClr val="accent2">
                  <a:lumMod val="75000"/>
                </a:schemeClr>
              </a:solidFill>
            </a:endParaRPr>
          </a:p>
          <a:p>
            <a:r>
              <a:rPr lang="en-US" b="1" dirty="0">
                <a:solidFill>
                  <a:schemeClr val="accent2">
                    <a:lumMod val="75000"/>
                  </a:schemeClr>
                </a:solidFill>
              </a:rPr>
              <a:t>void </a:t>
            </a:r>
            <a:r>
              <a:rPr lang="en-US" b="1" dirty="0" err="1">
                <a:solidFill>
                  <a:schemeClr val="accent2">
                    <a:lumMod val="75000"/>
                  </a:schemeClr>
                </a:solidFill>
              </a:rPr>
              <a:t>xFunc</a:t>
            </a:r>
            <a:r>
              <a:rPr lang="en-US" b="1" dirty="0">
                <a:solidFill>
                  <a:schemeClr val="accent2">
                    <a:lumMod val="75000"/>
                  </a:schemeClr>
                </a:solidFill>
              </a:rPr>
              <a:t>(</a:t>
            </a:r>
            <a:r>
              <a:rPr lang="en-US" b="1" dirty="0" err="1">
                <a:solidFill>
                  <a:schemeClr val="accent2">
                    <a:lumMod val="75000"/>
                  </a:schemeClr>
                </a:solidFill>
              </a:rPr>
              <a:t>FloatList</a:t>
            </a:r>
            <a:r>
              <a:rPr lang="en-US" b="1" dirty="0">
                <a:solidFill>
                  <a:schemeClr val="accent2">
                    <a:lumMod val="75000"/>
                  </a:schemeClr>
                </a:solidFill>
              </a:rPr>
              <a:t> temp) {</a:t>
            </a:r>
          </a:p>
          <a:p>
            <a:r>
              <a:rPr lang="en-US" b="1" dirty="0">
                <a:solidFill>
                  <a:schemeClr val="accent2">
                    <a:lumMod val="75000"/>
                  </a:schemeClr>
                </a:solidFill>
              </a:rPr>
              <a:t>	. . . . </a:t>
            </a:r>
          </a:p>
          <a:p>
            <a:r>
              <a:rPr lang="en-US" b="1" dirty="0">
                <a:solidFill>
                  <a:schemeClr val="accent2">
                    <a:lumMod val="75000"/>
                  </a:schemeClr>
                </a:solidFill>
              </a:rPr>
              <a:t>}</a:t>
            </a:r>
          </a:p>
        </p:txBody>
      </p:sp>
      <p:grpSp>
        <p:nvGrpSpPr>
          <p:cNvPr id="9" name="Group 8"/>
          <p:cNvGrpSpPr/>
          <p:nvPr/>
        </p:nvGrpSpPr>
        <p:grpSpPr>
          <a:xfrm>
            <a:off x="845820" y="4947285"/>
            <a:ext cx="9549765" cy="1483995"/>
            <a:chOff x="419100" y="2996565"/>
            <a:chExt cx="9549765" cy="1483995"/>
          </a:xfrm>
        </p:grpSpPr>
        <p:pic>
          <p:nvPicPr>
            <p:cNvPr id="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5615" y="3133725"/>
              <a:ext cx="6953250" cy="59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 y="2996565"/>
              <a:ext cx="2577465" cy="1483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833326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Template Link List class	</a:t>
            </a:r>
          </a:p>
        </p:txBody>
      </p:sp>
      <p:sp>
        <p:nvSpPr>
          <p:cNvPr id="3" name="Content Placeholder 2"/>
          <p:cNvSpPr>
            <a:spLocks noGrp="1"/>
          </p:cNvSpPr>
          <p:nvPr>
            <p:ph idx="1"/>
          </p:nvPr>
        </p:nvSpPr>
        <p:spPr/>
        <p:txBody>
          <a:bodyPr>
            <a:normAutofit fontScale="92500"/>
          </a:bodyPr>
          <a:lstStyle/>
          <a:p>
            <a:r>
              <a:rPr lang="en-US" sz="3200" dirty="0" err="1"/>
              <a:t>FloatList</a:t>
            </a:r>
            <a:r>
              <a:rPr lang="en-US" sz="3200" dirty="0"/>
              <a:t> class can be used create a link list of only float values</a:t>
            </a:r>
          </a:p>
          <a:p>
            <a:endParaRPr lang="en-US" sz="3200" dirty="0"/>
          </a:p>
          <a:p>
            <a:endParaRPr lang="en-US" sz="3200" dirty="0"/>
          </a:p>
          <a:p>
            <a:r>
              <a:rPr lang="en-US" sz="3200" dirty="0"/>
              <a:t>If link list is required for storing other data types as well, then either</a:t>
            </a:r>
          </a:p>
          <a:p>
            <a:pPr lvl="1"/>
            <a:r>
              <a:rPr lang="en-US" sz="2800" dirty="0"/>
              <a:t>as many link list classes needs to be defined, as many data types we want to store in the link lists OR</a:t>
            </a:r>
          </a:p>
          <a:p>
            <a:pPr lvl="1"/>
            <a:r>
              <a:rPr lang="en-US" sz="2800" dirty="0"/>
              <a:t>make a template link list, which will serve all the data types</a:t>
            </a:r>
          </a:p>
        </p:txBody>
      </p:sp>
      <p:pic>
        <p:nvPicPr>
          <p:cNvPr id="4" name="Picture 3"/>
          <p:cNvPicPr>
            <a:picLocks noChangeAspect="1"/>
          </p:cNvPicPr>
          <p:nvPr/>
        </p:nvPicPr>
        <p:blipFill>
          <a:blip r:embed="rId2"/>
          <a:stretch>
            <a:fillRect/>
          </a:stretch>
        </p:blipFill>
        <p:spPr>
          <a:xfrm>
            <a:off x="3444418" y="2353457"/>
            <a:ext cx="3961269" cy="1382843"/>
          </a:xfrm>
          <a:prstGeom prst="rect">
            <a:avLst/>
          </a:prstGeom>
        </p:spPr>
      </p:pic>
    </p:spTree>
    <p:extLst>
      <p:ext uri="{BB962C8B-B14F-4D97-AF65-F5344CB8AC3E}">
        <p14:creationId xmlns:p14="http://schemas.microsoft.com/office/powerpoint/2010/main" val="33790081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Template Link List</a:t>
            </a:r>
          </a:p>
        </p:txBody>
      </p:sp>
      <p:sp>
        <p:nvSpPr>
          <p:cNvPr id="3" name="Content Placeholder 2"/>
          <p:cNvSpPr>
            <a:spLocks noGrp="1"/>
          </p:cNvSpPr>
          <p:nvPr>
            <p:ph idx="1"/>
          </p:nvPr>
        </p:nvSpPr>
        <p:spPr/>
        <p:txBody>
          <a:bodyPr/>
          <a:lstStyle/>
          <a:p>
            <a:r>
              <a:rPr lang="en-US" dirty="0"/>
              <a:t>The template link list can be used to create link list for</a:t>
            </a:r>
          </a:p>
          <a:p>
            <a:pPr lvl="1"/>
            <a:r>
              <a:rPr lang="en-US" dirty="0"/>
              <a:t>Basic data types, e.g., </a:t>
            </a:r>
            <a:r>
              <a:rPr lang="en-US" dirty="0" err="1"/>
              <a:t>int</a:t>
            </a:r>
            <a:r>
              <a:rPr lang="en-US" dirty="0"/>
              <a:t>, char, float </a:t>
            </a:r>
            <a:r>
              <a:rPr lang="en-US" dirty="0" err="1"/>
              <a:t>etc</a:t>
            </a:r>
            <a:endParaRPr lang="en-US" dirty="0"/>
          </a:p>
          <a:p>
            <a:pPr lvl="1"/>
            <a:r>
              <a:rPr lang="en-US" dirty="0"/>
              <a:t>User defined classes </a:t>
            </a:r>
          </a:p>
          <a:p>
            <a:r>
              <a:rPr lang="en-US" dirty="0"/>
              <a:t>For user defined classes to be used with template link list, we may need to overload some operators</a:t>
            </a:r>
          </a:p>
          <a:p>
            <a:pPr lvl="1"/>
            <a:r>
              <a:rPr lang="en-US" dirty="0" err="1"/>
              <a:t>cout</a:t>
            </a:r>
            <a:r>
              <a:rPr lang="en-US" dirty="0"/>
              <a:t>&lt;&lt;</a:t>
            </a:r>
            <a:r>
              <a:rPr lang="en-US" dirty="0" err="1"/>
              <a:t>class_object</a:t>
            </a:r>
            <a:r>
              <a:rPr lang="en-US" dirty="0"/>
              <a:t>  in display</a:t>
            </a:r>
          </a:p>
          <a:p>
            <a:pPr lvl="1"/>
            <a:r>
              <a:rPr lang="en-US" dirty="0"/>
              <a:t>May </a:t>
            </a:r>
            <a:r>
              <a:rPr lang="en-US"/>
              <a:t>be == , != in deletion</a:t>
            </a:r>
          </a:p>
          <a:p>
            <a:pPr lvl="1"/>
            <a:endParaRPr lang="en-US" dirty="0"/>
          </a:p>
          <a:p>
            <a:pPr lvl="1"/>
            <a:endParaRPr lang="en-US" dirty="0"/>
          </a:p>
          <a:p>
            <a:pPr lvl="1"/>
            <a:endParaRPr lang="en-US" dirty="0"/>
          </a:p>
        </p:txBody>
      </p:sp>
    </p:spTree>
    <p:extLst>
      <p:ext uri="{BB962C8B-B14F-4D97-AF65-F5344CB8AC3E}">
        <p14:creationId xmlns:p14="http://schemas.microsoft.com/office/powerpoint/2010/main" val="26590054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329" y="541020"/>
            <a:ext cx="6576545" cy="5204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7543800" y="1203960"/>
            <a:ext cx="3291840" cy="1402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t>Link List</a:t>
            </a: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33601" y="1950379"/>
            <a:ext cx="990600" cy="594701"/>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91841" y="4145281"/>
            <a:ext cx="990600" cy="1158240"/>
          </a:xfrm>
          <a:prstGeom prst="rect">
            <a:avLst/>
          </a:prstGeom>
        </p:spPr>
      </p:pic>
    </p:spTree>
    <p:extLst>
      <p:ext uri="{BB962C8B-B14F-4D97-AF65-F5344CB8AC3E}">
        <p14:creationId xmlns:p14="http://schemas.microsoft.com/office/powerpoint/2010/main" val="4019479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615337" y="682599"/>
            <a:ext cx="6734164" cy="6032993"/>
          </a:xfrm>
          <a:prstGeom prst="rect">
            <a:avLst/>
          </a:prstGeom>
        </p:spPr>
      </p:pic>
      <p:sp>
        <p:nvSpPr>
          <p:cNvPr id="3" name="TextBox 2"/>
          <p:cNvSpPr txBox="1"/>
          <p:nvPr/>
        </p:nvSpPr>
        <p:spPr>
          <a:xfrm>
            <a:off x="194872" y="1049311"/>
            <a:ext cx="4467069" cy="707886"/>
          </a:xfrm>
          <a:prstGeom prst="rect">
            <a:avLst/>
          </a:prstGeom>
          <a:noFill/>
        </p:spPr>
        <p:txBody>
          <a:bodyPr wrap="square" rtlCol="0">
            <a:spAutoFit/>
          </a:bodyPr>
          <a:lstStyle/>
          <a:p>
            <a:r>
              <a:rPr lang="en-US" sz="4000" dirty="0"/>
              <a:t>Template link list</a:t>
            </a:r>
          </a:p>
        </p:txBody>
      </p:sp>
    </p:spTree>
    <p:extLst>
      <p:ext uri="{BB962C8B-B14F-4D97-AF65-F5344CB8AC3E}">
        <p14:creationId xmlns:p14="http://schemas.microsoft.com/office/powerpoint/2010/main" val="31768458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template </a:t>
            </a:r>
            <a:r>
              <a:rPr lang="en-PK" dirty="0"/>
              <a:t>line</a:t>
            </a:r>
            <a:endParaRPr lang="en-US" dirty="0"/>
          </a:p>
        </p:txBody>
      </p:sp>
      <p:sp>
        <p:nvSpPr>
          <p:cNvPr id="3" name="Content Placeholder 2"/>
          <p:cNvSpPr>
            <a:spLocks noGrp="1"/>
          </p:cNvSpPr>
          <p:nvPr>
            <p:ph idx="1"/>
          </p:nvPr>
        </p:nvSpPr>
        <p:spPr/>
        <p:txBody>
          <a:bodyPr/>
          <a:lstStyle/>
          <a:p>
            <a:r>
              <a:rPr lang="en-US" dirty="0"/>
              <a:t>If class member functions are defined outside of class, then every function will also have the template line </a:t>
            </a:r>
          </a:p>
        </p:txBody>
      </p:sp>
      <p:pic>
        <p:nvPicPr>
          <p:cNvPr id="5" name="Picture 4"/>
          <p:cNvPicPr>
            <a:picLocks noChangeAspect="1"/>
          </p:cNvPicPr>
          <p:nvPr/>
        </p:nvPicPr>
        <p:blipFill>
          <a:blip r:embed="rId3"/>
          <a:stretch>
            <a:fillRect/>
          </a:stretch>
        </p:blipFill>
        <p:spPr>
          <a:xfrm>
            <a:off x="2521374" y="3588894"/>
            <a:ext cx="4494023" cy="890457"/>
          </a:xfrm>
          <a:prstGeom prst="rect">
            <a:avLst/>
          </a:prstGeom>
        </p:spPr>
      </p:pic>
    </p:spTree>
    <p:extLst>
      <p:ext uri="{BB962C8B-B14F-4D97-AF65-F5344CB8AC3E}">
        <p14:creationId xmlns:p14="http://schemas.microsoft.com/office/powerpoint/2010/main" val="1635537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8158" y="274320"/>
            <a:ext cx="6675293"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67201" y="121579"/>
            <a:ext cx="889058" cy="533741"/>
          </a:xfrm>
          <a:prstGeom prst="rect">
            <a:avLst/>
          </a:prstGeom>
        </p:spPr>
      </p:pic>
      <p:pic>
        <p:nvPicPr>
          <p:cNvPr id="4" name="Picture 3"/>
          <p:cNvPicPr>
            <a:picLocks noChangeAspect="1"/>
          </p:cNvPicPr>
          <p:nvPr/>
        </p:nvPicPr>
        <p:blipFill>
          <a:blip r:embed="rId4"/>
          <a:stretch>
            <a:fillRect/>
          </a:stretch>
        </p:blipFill>
        <p:spPr>
          <a:xfrm>
            <a:off x="6223944" y="0"/>
            <a:ext cx="4494023" cy="890457"/>
          </a:xfrm>
          <a:prstGeom prst="rect">
            <a:avLst/>
          </a:prstGeom>
        </p:spPr>
      </p:pic>
    </p:spTree>
    <p:extLst>
      <p:ext uri="{BB962C8B-B14F-4D97-AF65-F5344CB8AC3E}">
        <p14:creationId xmlns:p14="http://schemas.microsoft.com/office/powerpoint/2010/main" val="731962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1975" y="1856423"/>
            <a:ext cx="6213654" cy="2852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109681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298" y="134303"/>
            <a:ext cx="7096125" cy="2657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45418" y="1967865"/>
            <a:ext cx="6791325" cy="478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27121" y="15241"/>
            <a:ext cx="837719" cy="502920"/>
          </a:xfrm>
          <a:prstGeom prst="rect">
            <a:avLst/>
          </a:prstGeom>
        </p:spPr>
      </p:pic>
    </p:spTree>
    <p:extLst>
      <p:ext uri="{BB962C8B-B14F-4D97-AF65-F5344CB8AC3E}">
        <p14:creationId xmlns:p14="http://schemas.microsoft.com/office/powerpoint/2010/main" val="828777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9C6148B-F66D-3F86-B2DD-5E32283B7B56}"/>
              </a:ext>
            </a:extLst>
          </p:cNvPr>
          <p:cNvPicPr>
            <a:picLocks noChangeAspect="1"/>
          </p:cNvPicPr>
          <p:nvPr/>
        </p:nvPicPr>
        <p:blipFill>
          <a:blip r:embed="rId2"/>
          <a:stretch>
            <a:fillRect/>
          </a:stretch>
        </p:blipFill>
        <p:spPr>
          <a:xfrm>
            <a:off x="0" y="0"/>
            <a:ext cx="8773749" cy="4896533"/>
          </a:xfrm>
          <a:prstGeom prst="rect">
            <a:avLst/>
          </a:prstGeom>
          <a:ln>
            <a:solidFill>
              <a:schemeClr val="tx1"/>
            </a:solidFill>
          </a:ln>
        </p:spPr>
      </p:pic>
      <p:pic>
        <p:nvPicPr>
          <p:cNvPr id="8" name="Picture 7">
            <a:extLst>
              <a:ext uri="{FF2B5EF4-FFF2-40B4-BE49-F238E27FC236}">
                <a16:creationId xmlns:a16="http://schemas.microsoft.com/office/drawing/2014/main" id="{C52EACC6-7F66-583A-5EB4-24F33B4633E5}"/>
              </a:ext>
            </a:extLst>
          </p:cNvPr>
          <p:cNvPicPr>
            <a:picLocks noChangeAspect="1"/>
          </p:cNvPicPr>
          <p:nvPr/>
        </p:nvPicPr>
        <p:blipFill>
          <a:blip r:embed="rId3"/>
          <a:stretch>
            <a:fillRect/>
          </a:stretch>
        </p:blipFill>
        <p:spPr>
          <a:xfrm>
            <a:off x="6628390" y="4201582"/>
            <a:ext cx="5534797" cy="2629267"/>
          </a:xfrm>
          <a:prstGeom prst="rect">
            <a:avLst/>
          </a:prstGeom>
          <a:ln>
            <a:solidFill>
              <a:schemeClr val="tx1"/>
            </a:solidFill>
          </a:ln>
        </p:spPr>
      </p:pic>
      <p:sp>
        <p:nvSpPr>
          <p:cNvPr id="2" name="Title 1">
            <a:extLst>
              <a:ext uri="{FF2B5EF4-FFF2-40B4-BE49-F238E27FC236}">
                <a16:creationId xmlns:a16="http://schemas.microsoft.com/office/drawing/2014/main" id="{A34F9864-4394-706E-8A84-486CCBD59717}"/>
              </a:ext>
            </a:extLst>
          </p:cNvPr>
          <p:cNvSpPr>
            <a:spLocks noGrp="1"/>
          </p:cNvSpPr>
          <p:nvPr>
            <p:ph type="title"/>
          </p:nvPr>
        </p:nvSpPr>
        <p:spPr>
          <a:xfrm>
            <a:off x="7568784" y="566594"/>
            <a:ext cx="4623216" cy="1325563"/>
          </a:xfrm>
          <a:solidFill>
            <a:schemeClr val="accent1">
              <a:lumMod val="20000"/>
              <a:lumOff val="80000"/>
            </a:schemeClr>
          </a:solidFill>
        </p:spPr>
        <p:txBody>
          <a:bodyPr>
            <a:normAutofit fontScale="90000"/>
          </a:bodyPr>
          <a:lstStyle/>
          <a:p>
            <a:r>
              <a:rPr lang="en-US" dirty="0"/>
              <a:t>Multiple template parameters</a:t>
            </a:r>
            <a:endParaRPr lang="en-PK" dirty="0"/>
          </a:p>
        </p:txBody>
      </p:sp>
    </p:spTree>
    <p:extLst>
      <p:ext uri="{BB962C8B-B14F-4D97-AF65-F5344CB8AC3E}">
        <p14:creationId xmlns:p14="http://schemas.microsoft.com/office/powerpoint/2010/main" val="259801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Template link list</a:t>
            </a:r>
          </a:p>
        </p:txBody>
      </p:sp>
      <p:sp>
        <p:nvSpPr>
          <p:cNvPr id="3" name="Content Placeholder 2"/>
          <p:cNvSpPr>
            <a:spLocks noGrp="1"/>
          </p:cNvSpPr>
          <p:nvPr>
            <p:ph idx="1"/>
          </p:nvPr>
        </p:nvSpPr>
        <p:spPr/>
        <p:txBody>
          <a:bodyPr/>
          <a:lstStyle/>
          <a:p>
            <a:r>
              <a:rPr lang="en-US" dirty="0"/>
              <a:t>Suppose we have a class Distance</a:t>
            </a:r>
          </a:p>
          <a:p>
            <a:pPr marL="0" indent="0">
              <a:buNone/>
            </a:pPr>
            <a:r>
              <a:rPr lang="en-US" sz="2400" b="1" dirty="0">
                <a:solidFill>
                  <a:schemeClr val="accent2">
                    <a:lumMod val="75000"/>
                  </a:schemeClr>
                </a:solidFill>
              </a:rPr>
              <a:t>class Distance {</a:t>
            </a:r>
          </a:p>
          <a:p>
            <a:pPr marL="0" indent="0">
              <a:buNone/>
            </a:pPr>
            <a:r>
              <a:rPr lang="en-US" sz="2400" b="1" dirty="0">
                <a:solidFill>
                  <a:schemeClr val="accent2">
                    <a:lumMod val="75000"/>
                  </a:schemeClr>
                </a:solidFill>
              </a:rPr>
              <a:t>	</a:t>
            </a:r>
            <a:r>
              <a:rPr lang="en-US" sz="2400" b="1" dirty="0" err="1">
                <a:solidFill>
                  <a:schemeClr val="accent2">
                    <a:lumMod val="75000"/>
                  </a:schemeClr>
                </a:solidFill>
              </a:rPr>
              <a:t>int</a:t>
            </a:r>
            <a:r>
              <a:rPr lang="en-US" sz="2400" b="1" dirty="0">
                <a:solidFill>
                  <a:schemeClr val="accent2">
                    <a:lumMod val="75000"/>
                  </a:schemeClr>
                </a:solidFill>
              </a:rPr>
              <a:t> feet;</a:t>
            </a:r>
          </a:p>
          <a:p>
            <a:pPr marL="0" indent="0">
              <a:buNone/>
            </a:pPr>
            <a:r>
              <a:rPr lang="en-US" sz="2400" b="1" dirty="0">
                <a:solidFill>
                  <a:schemeClr val="accent2">
                    <a:lumMod val="75000"/>
                  </a:schemeClr>
                </a:solidFill>
              </a:rPr>
              <a:t>	</a:t>
            </a:r>
            <a:r>
              <a:rPr lang="en-US" sz="2400" b="1" dirty="0" err="1">
                <a:solidFill>
                  <a:schemeClr val="accent2">
                    <a:lumMod val="75000"/>
                  </a:schemeClr>
                </a:solidFill>
              </a:rPr>
              <a:t>int</a:t>
            </a:r>
            <a:r>
              <a:rPr lang="en-US" sz="2400" b="1" dirty="0">
                <a:solidFill>
                  <a:schemeClr val="accent2">
                    <a:lumMod val="75000"/>
                  </a:schemeClr>
                </a:solidFill>
              </a:rPr>
              <a:t> inches;</a:t>
            </a:r>
          </a:p>
          <a:p>
            <a:pPr marL="0" indent="0">
              <a:buNone/>
            </a:pPr>
            <a:r>
              <a:rPr lang="en-US" sz="2400" b="1" dirty="0">
                <a:solidFill>
                  <a:schemeClr val="accent2">
                    <a:lumMod val="75000"/>
                  </a:schemeClr>
                </a:solidFill>
              </a:rPr>
              <a:t>}</a:t>
            </a:r>
          </a:p>
          <a:p>
            <a:r>
              <a:rPr lang="en-US" dirty="0"/>
              <a:t>What if we want to have a link list of Distance class. </a:t>
            </a:r>
          </a:p>
        </p:txBody>
      </p:sp>
    </p:spTree>
    <p:extLst>
      <p:ext uri="{BB962C8B-B14F-4D97-AF65-F5344CB8AC3E}">
        <p14:creationId xmlns:p14="http://schemas.microsoft.com/office/powerpoint/2010/main" val="41610206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K" dirty="0"/>
              <a:t>Template Link List</a:t>
            </a:r>
            <a:endParaRPr lang="en-US" dirty="0"/>
          </a:p>
        </p:txBody>
      </p:sp>
      <p:sp>
        <p:nvSpPr>
          <p:cNvPr id="3" name="Content Placeholder 2"/>
          <p:cNvSpPr>
            <a:spLocks noGrp="1"/>
          </p:cNvSpPr>
          <p:nvPr>
            <p:ph idx="1"/>
          </p:nvPr>
        </p:nvSpPr>
        <p:spPr/>
        <p:txBody>
          <a:bodyPr/>
          <a:lstStyle/>
          <a:p>
            <a:r>
              <a:rPr lang="en-PK" dirty="0"/>
              <a:t>If we are using template link list to store class objects, then some operators may need to be overloaded, e.g.,</a:t>
            </a:r>
          </a:p>
          <a:p>
            <a:r>
              <a:rPr lang="en-PK" dirty="0"/>
              <a:t>&lt;&lt; operator</a:t>
            </a:r>
          </a:p>
          <a:p>
            <a:pPr lvl="1"/>
            <a:r>
              <a:rPr lang="en-US" dirty="0"/>
              <a:t>I</a:t>
            </a:r>
            <a:r>
              <a:rPr lang="en-PK" dirty="0"/>
              <a:t>n displayList function, to print the data of class object</a:t>
            </a:r>
          </a:p>
          <a:p>
            <a:pPr lvl="1"/>
            <a:endParaRPr lang="en-US" dirty="0"/>
          </a:p>
        </p:txBody>
      </p:sp>
    </p:spTree>
    <p:extLst>
      <p:ext uri="{BB962C8B-B14F-4D97-AF65-F5344CB8AC3E}">
        <p14:creationId xmlns:p14="http://schemas.microsoft.com/office/powerpoint/2010/main" val="770761837"/>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4750</TotalTime>
  <Words>623</Words>
  <Application>Microsoft Macintosh PowerPoint</Application>
  <PresentationFormat>Widescreen</PresentationFormat>
  <Paragraphs>122</Paragraphs>
  <Slides>39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Aptos</vt:lpstr>
      <vt:lpstr>Calibri</vt:lpstr>
      <vt:lpstr>Calibri Light</vt:lpstr>
      <vt:lpstr>Courier New</vt:lpstr>
      <vt:lpstr>Retrospect</vt:lpstr>
      <vt:lpstr>Linked list</vt:lpstr>
      <vt:lpstr>Basics </vt:lpstr>
      <vt:lpstr>PowerPoint Presentation</vt:lpstr>
      <vt:lpstr>Basics</vt:lpstr>
      <vt:lpstr>Linked List</vt:lpstr>
      <vt:lpstr>PowerPoint Presentation</vt:lpstr>
      <vt:lpstr>PowerPoint Presentation</vt:lpstr>
      <vt:lpstr>Traversing a Link List</vt:lpstr>
      <vt:lpstr>Adding to the end of Link List</vt:lpstr>
      <vt:lpstr>PowerPoint Presentation</vt:lpstr>
      <vt:lpstr>PowerPoint Presentation</vt:lpstr>
      <vt:lpstr>PowerPoint Presentation</vt:lpstr>
      <vt:lpstr>Inserting a Node in the middle</vt:lpstr>
      <vt:lpstr>PowerPoint Presentation</vt:lpstr>
      <vt:lpstr>Another approach for insertion</vt:lpstr>
      <vt:lpstr>Deleting a Node</vt:lpstr>
      <vt:lpstr>PowerPoint Presentation</vt:lpstr>
      <vt:lpstr>PowerPoint Presentation</vt:lpstr>
      <vt:lpstr>Linked list  Handling dynamic Memory </vt:lpstr>
      <vt:lpstr>PowerPoint Presentation</vt:lpstr>
      <vt:lpstr>PowerPoint Presentation</vt:lpstr>
      <vt:lpstr>Assignment Operation</vt:lpstr>
      <vt:lpstr>Assignment Operator Overloading for FloatList class</vt:lpstr>
      <vt:lpstr>Assignment Operator Overloading</vt:lpstr>
      <vt:lpstr>Copy Constructor</vt:lpstr>
      <vt:lpstr>Copy Constructor</vt:lpstr>
      <vt:lpstr>New object creation using existing object</vt:lpstr>
      <vt:lpstr>2. floatList object passed as value</vt:lpstr>
      <vt:lpstr>Template Link List class </vt:lpstr>
      <vt:lpstr>Template Link List</vt:lpstr>
      <vt:lpstr>PowerPoint Presentation</vt:lpstr>
      <vt:lpstr>PowerPoint Presentation</vt:lpstr>
      <vt:lpstr>template line</vt:lpstr>
      <vt:lpstr>PowerPoint Presentation</vt:lpstr>
      <vt:lpstr>PowerPoint Presentation</vt:lpstr>
      <vt:lpstr>PowerPoint Presentation</vt:lpstr>
      <vt:lpstr>Multiple template parameters</vt:lpstr>
      <vt:lpstr>Template link list</vt:lpstr>
      <vt:lpstr>Template Link 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Linked list</dc:title>
  <dc:creator>shahid qureshi</dc:creator>
  <cp:lastModifiedBy>Shahid Qureshi</cp:lastModifiedBy>
  <cp:revision>50</cp:revision>
  <dcterms:created xsi:type="dcterms:W3CDTF">2016-02-01T17:19:18Z</dcterms:created>
  <dcterms:modified xsi:type="dcterms:W3CDTF">2026-09-24T06:12:41Z</dcterms:modified>
</cp:coreProperties>
</file>