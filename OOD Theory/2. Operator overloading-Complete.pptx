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57"/>
  </p:notesMasterIdLst>
  <p:handoutMasterIdLst>
    <p:handoutMasterId r:id="rId58"/>
  </p:handoutMasterIdLst>
  <p:sldIdLst>
    <p:sldId id="313" r:id="rId2"/>
    <p:sldId id="374" r:id="rId3"/>
    <p:sldId id="372" r:id="rId4"/>
    <p:sldId id="308" r:id="rId5"/>
    <p:sldId id="263" r:id="rId6"/>
    <p:sldId id="275" r:id="rId7"/>
    <p:sldId id="307" r:id="rId8"/>
    <p:sldId id="276" r:id="rId9"/>
    <p:sldId id="315" r:id="rId10"/>
    <p:sldId id="314" r:id="rId11"/>
    <p:sldId id="312" r:id="rId12"/>
    <p:sldId id="339" r:id="rId13"/>
    <p:sldId id="376" r:id="rId14"/>
    <p:sldId id="338" r:id="rId15"/>
    <p:sldId id="377" r:id="rId16"/>
    <p:sldId id="362" r:id="rId17"/>
    <p:sldId id="363" r:id="rId18"/>
    <p:sldId id="375" r:id="rId19"/>
    <p:sldId id="349" r:id="rId20"/>
    <p:sldId id="350" r:id="rId21"/>
    <p:sldId id="317" r:id="rId22"/>
    <p:sldId id="378" r:id="rId23"/>
    <p:sldId id="351" r:id="rId24"/>
    <p:sldId id="343" r:id="rId25"/>
    <p:sldId id="352" r:id="rId26"/>
    <p:sldId id="331" r:id="rId27"/>
    <p:sldId id="332" r:id="rId28"/>
    <p:sldId id="333" r:id="rId29"/>
    <p:sldId id="369" r:id="rId30"/>
    <p:sldId id="368" r:id="rId31"/>
    <p:sldId id="367" r:id="rId32"/>
    <p:sldId id="365" r:id="rId33"/>
    <p:sldId id="366" r:id="rId34"/>
    <p:sldId id="335" r:id="rId35"/>
    <p:sldId id="336" r:id="rId36"/>
    <p:sldId id="344" r:id="rId37"/>
    <p:sldId id="346" r:id="rId38"/>
    <p:sldId id="357" r:id="rId39"/>
    <p:sldId id="370" r:id="rId40"/>
    <p:sldId id="358" r:id="rId41"/>
    <p:sldId id="356" r:id="rId42"/>
    <p:sldId id="334" r:id="rId43"/>
    <p:sldId id="318" r:id="rId44"/>
    <p:sldId id="321" r:id="rId45"/>
    <p:sldId id="323" r:id="rId46"/>
    <p:sldId id="379" r:id="rId47"/>
    <p:sldId id="380" r:id="rId48"/>
    <p:sldId id="383" r:id="rId49"/>
    <p:sldId id="381" r:id="rId50"/>
    <p:sldId id="382" r:id="rId51"/>
    <p:sldId id="324" r:id="rId52"/>
    <p:sldId id="326" r:id="rId53"/>
    <p:sldId id="327" r:id="rId54"/>
    <p:sldId id="371" r:id="rId55"/>
    <p:sldId id="337" r:id="rId5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963"/>
    <a:srgbClr val="FDFCE5"/>
    <a:srgbClr val="F9F3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865" autoAdjust="0"/>
    <p:restoredTop sz="92448" autoAdjust="0"/>
  </p:normalViewPr>
  <p:slideViewPr>
    <p:cSldViewPr>
      <p:cViewPr varScale="1">
        <p:scale>
          <a:sx n="64" d="100"/>
          <a:sy n="64" d="100"/>
        </p:scale>
        <p:origin x="10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61797E52-04D9-4575-B17D-A520A9564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30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B5FF7FA9-9151-4433-9E88-DB51753E4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825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35E4CE-852B-476E-A48C-3E169F3FAB9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36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D43AFF-C467-4C78-906F-2E015F4338E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65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738AF6-E2B9-4855-A4D7-8BC8FE891C7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20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787290-E9E2-4EAF-9D21-FAD715CFC13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 See pr11-09.cpp, overload.h, and overload.cpp </a:t>
            </a:r>
          </a:p>
        </p:txBody>
      </p:sp>
    </p:spTree>
    <p:extLst>
      <p:ext uri="{BB962C8B-B14F-4D97-AF65-F5344CB8AC3E}">
        <p14:creationId xmlns:p14="http://schemas.microsoft.com/office/powerpoint/2010/main" val="3369301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E477FB-78BA-44EC-A13A-B434DC0F120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1293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1335B8-D77D-4394-8EEA-5EEC3D9EB1D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See feetinch2.h, feetinch2.cpp, pr11-10.cpp</a:t>
            </a:r>
          </a:p>
        </p:txBody>
      </p:sp>
    </p:spTree>
    <p:extLst>
      <p:ext uri="{BB962C8B-B14F-4D97-AF65-F5344CB8AC3E}">
        <p14:creationId xmlns:p14="http://schemas.microsoft.com/office/powerpoint/2010/main" val="1229688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dirty="0"/>
              <a:t>Robert </a:t>
            </a:r>
            <a:r>
              <a:rPr lang="en-US" dirty="0" err="1"/>
              <a:t>Lafore</a:t>
            </a:r>
            <a:r>
              <a:rPr lang="en-US" dirty="0"/>
              <a:t>, page 330, 4</a:t>
            </a:r>
            <a:r>
              <a:rPr lang="en-US" baseline="30000" dirty="0"/>
              <a:t>th</a:t>
            </a:r>
            <a:r>
              <a:rPr lang="en-US" dirty="0"/>
              <a:t> Ed</a:t>
            </a:r>
          </a:p>
          <a:p>
            <a:pPr>
              <a:defRPr/>
            </a:pPr>
            <a:r>
              <a:rPr lang="en-US" dirty="0"/>
              <a:t>In class Distance the declaration for the operator+() function looks like this:</a:t>
            </a:r>
          </a:p>
          <a:p>
            <a:pPr>
              <a:defRPr/>
            </a:pPr>
            <a:r>
              <a:rPr lang="en-US" dirty="0"/>
              <a:t>Distance operator + ( Distance );</a:t>
            </a:r>
          </a:p>
          <a:p>
            <a:pPr>
              <a:defRPr/>
            </a:pPr>
            <a:r>
              <a:rPr lang="en-US" dirty="0"/>
              <a:t>This function has a return type of Distance, and takes one argument of type Distance.</a:t>
            </a:r>
          </a:p>
          <a:p>
            <a:pPr>
              <a:defRPr/>
            </a:pPr>
            <a:r>
              <a:rPr lang="en-US" dirty="0"/>
              <a:t>In expressions like</a:t>
            </a:r>
          </a:p>
          <a:p>
            <a:pPr>
              <a:defRPr/>
            </a:pPr>
            <a:r>
              <a:rPr lang="en-US" dirty="0"/>
              <a:t>dist3 = dist1 + dist2;</a:t>
            </a:r>
          </a:p>
          <a:p>
            <a:pPr>
              <a:defRPr/>
            </a:pPr>
            <a:r>
              <a:rPr lang="en-US" dirty="0"/>
              <a:t>it’s important to understand how the return value and arguments of the operator relate to the</a:t>
            </a:r>
          </a:p>
          <a:p>
            <a:pPr>
              <a:defRPr/>
            </a:pPr>
            <a:r>
              <a:rPr lang="en-US" dirty="0"/>
              <a:t>objects. When the compiler sees this expression it looks at the argument types, and finding</a:t>
            </a:r>
          </a:p>
          <a:p>
            <a:pPr>
              <a:defRPr/>
            </a:pPr>
            <a:r>
              <a:rPr lang="en-US" dirty="0"/>
              <a:t>only type Distance, it realizes it must use the Distance member function operator+(). But</a:t>
            </a:r>
          </a:p>
          <a:p>
            <a:pPr>
              <a:defRPr/>
            </a:pPr>
            <a:r>
              <a:rPr lang="en-US" dirty="0"/>
              <a:t>what does this function use as its argument—dist1 or dist2? And doesn’t it need two arguments,</a:t>
            </a:r>
          </a:p>
          <a:p>
            <a:pPr>
              <a:defRPr/>
            </a:pPr>
            <a:r>
              <a:rPr lang="en-US" dirty="0"/>
              <a:t>since there are two numbers to be added?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Here’s the key: The argument on the left side of the operator (dist1 in this case) is the object</a:t>
            </a:r>
          </a:p>
          <a:p>
            <a:pPr>
              <a:defRPr/>
            </a:pPr>
            <a:r>
              <a:rPr lang="en-US" dirty="0"/>
              <a:t>of which the operator is a member. The object on the right side of the operator (dist2) must</a:t>
            </a:r>
          </a:p>
          <a:p>
            <a:pPr>
              <a:defRPr/>
            </a:pPr>
            <a:r>
              <a:rPr lang="en-US" dirty="0"/>
              <a:t>be furnished as an argument to the operator. The operator returns a value, which can be assigned or used in other ways; in this case it is assigned to dist3. Figure 8.2 shows how this looks.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 the operator+() function, the left operand is accessed directly—since this is the object of</a:t>
            </a:r>
          </a:p>
          <a:p>
            <a:pPr>
              <a:defRPr/>
            </a:pPr>
            <a:r>
              <a:rPr lang="en-US" dirty="0"/>
              <a:t>which the operator is a member—using feet and inches. The right operand is accessed as the</a:t>
            </a:r>
          </a:p>
          <a:p>
            <a:pPr>
              <a:defRPr/>
            </a:pPr>
            <a:r>
              <a:rPr lang="en-US" dirty="0"/>
              <a:t>function’s argument, as d2.feet and d2.inches.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E3F64F-26BC-4972-89D6-99C9AD76BEA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85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7888B3-00CB-4666-BD8D-F2DCC056A44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10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F3B5C5-D3D0-495C-880A-34227AAEA4B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75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Friend</a:t>
            </a:r>
            <a:r>
              <a:rPr lang="en-US" baseline="0" dirty="0"/>
              <a:t> function can be declared as private or public without any difference, </a:t>
            </a:r>
            <a:r>
              <a:rPr lang="en-US" baseline="0" dirty="0" err="1"/>
              <a:t>lafore</a:t>
            </a:r>
            <a:r>
              <a:rPr lang="en-US" baseline="0" dirty="0"/>
              <a:t> page 521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FF7FA9-9151-4433-9E88-DB51753E4BC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86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AF2876-C55F-4DE6-A6AB-533C2568189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07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FF7FA9-9151-4433-9E88-DB51753E4BC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83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6128CA-0AAB-4B36-BBA0-5FBFF20B0F1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72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CABA03-C026-4E2A-983B-86697E82952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91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A1C952-3931-47A9-98E9-31E62976DDE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01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C1A78F-E81F-41B9-BE59-C551F6400C1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34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dirty="0"/>
              <a:t>Robert </a:t>
            </a:r>
            <a:r>
              <a:rPr lang="en-US" dirty="0" err="1"/>
              <a:t>Lafore</a:t>
            </a:r>
            <a:r>
              <a:rPr lang="en-US" dirty="0"/>
              <a:t>, page 330, 4</a:t>
            </a:r>
            <a:r>
              <a:rPr lang="en-US" baseline="30000" dirty="0"/>
              <a:t>th</a:t>
            </a:r>
            <a:r>
              <a:rPr lang="en-US" dirty="0"/>
              <a:t> Ed</a:t>
            </a:r>
          </a:p>
          <a:p>
            <a:pPr>
              <a:defRPr/>
            </a:pPr>
            <a:r>
              <a:rPr lang="en-US" dirty="0"/>
              <a:t>In class Distance the declaration for the operator+() function looks like this:</a:t>
            </a:r>
          </a:p>
          <a:p>
            <a:pPr>
              <a:defRPr/>
            </a:pPr>
            <a:r>
              <a:rPr lang="en-US" dirty="0"/>
              <a:t>Distance operator + ( Distance );</a:t>
            </a:r>
          </a:p>
          <a:p>
            <a:pPr>
              <a:defRPr/>
            </a:pPr>
            <a:r>
              <a:rPr lang="en-US" dirty="0"/>
              <a:t>This function has a return type of Distance, and takes one argument of type Distance.</a:t>
            </a:r>
          </a:p>
          <a:p>
            <a:pPr>
              <a:defRPr/>
            </a:pPr>
            <a:r>
              <a:rPr lang="en-US" dirty="0"/>
              <a:t>In expressions like</a:t>
            </a:r>
          </a:p>
          <a:p>
            <a:pPr>
              <a:defRPr/>
            </a:pPr>
            <a:r>
              <a:rPr lang="en-US" dirty="0"/>
              <a:t>dist3 = dist1 + dist2;</a:t>
            </a:r>
          </a:p>
          <a:p>
            <a:pPr>
              <a:defRPr/>
            </a:pPr>
            <a:r>
              <a:rPr lang="en-US" dirty="0"/>
              <a:t>it’s important to understand how the return value and arguments of the operator relate to the</a:t>
            </a:r>
          </a:p>
          <a:p>
            <a:pPr>
              <a:defRPr/>
            </a:pPr>
            <a:r>
              <a:rPr lang="en-US" dirty="0"/>
              <a:t>objects. When the compiler sees this expression it looks at the argument types, and finding</a:t>
            </a:r>
          </a:p>
          <a:p>
            <a:pPr>
              <a:defRPr/>
            </a:pPr>
            <a:r>
              <a:rPr lang="en-US" dirty="0"/>
              <a:t>only type Distance, it realizes it must use the Distance member function operator+(). But</a:t>
            </a:r>
          </a:p>
          <a:p>
            <a:pPr>
              <a:defRPr/>
            </a:pPr>
            <a:r>
              <a:rPr lang="en-US" dirty="0"/>
              <a:t>what does this function use as its argument—dist1 or dist2? And doesn’t it need two arguments,</a:t>
            </a:r>
          </a:p>
          <a:p>
            <a:pPr>
              <a:defRPr/>
            </a:pPr>
            <a:r>
              <a:rPr lang="en-US" dirty="0"/>
              <a:t>since there are two numbers to be added?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Here’s the key: The argument on the left side of the operator (dist1 in this case) is the object</a:t>
            </a:r>
          </a:p>
          <a:p>
            <a:pPr>
              <a:defRPr/>
            </a:pPr>
            <a:r>
              <a:rPr lang="en-US" dirty="0"/>
              <a:t>of which the operator is a member. The object on the right side of the operator (dist2) must</a:t>
            </a:r>
          </a:p>
          <a:p>
            <a:pPr>
              <a:defRPr/>
            </a:pPr>
            <a:r>
              <a:rPr lang="en-US" dirty="0"/>
              <a:t>be furnished as an argument to the operator. The operator returns a value, which can be assigned or used in other ways; in this case it is assigned to dist3. Figure 8.2 shows how this looks.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 the operator+() function, the left operand is accessed directly—since this is the object of</a:t>
            </a:r>
          </a:p>
          <a:p>
            <a:pPr>
              <a:defRPr/>
            </a:pPr>
            <a:r>
              <a:rPr lang="en-US" dirty="0"/>
              <a:t>which the operator is a member—using feet and inches. The right operand is accessed as the</a:t>
            </a:r>
          </a:p>
          <a:p>
            <a:pPr>
              <a:defRPr/>
            </a:pPr>
            <a:r>
              <a:rPr lang="en-US" dirty="0"/>
              <a:t>function’s argument, as d2.feet and d2.inches.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E3F64F-26BC-4972-89D6-99C9AD76BEA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18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C7621C-7453-4DF4-B0D2-AB4189D9CBA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40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FF7FA9-9151-4433-9E88-DB51753E4BCA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36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5C62C9-7B02-4136-B89C-38BED0677AE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87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702CF3-F8BA-4793-ACAD-F587911576B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4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270DBA-4D33-4D0C-B548-D534D801BD6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19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AB4714-F1F0-49B8-8C44-CF5D225E482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971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6D8292-E58B-4CEE-8098-B1C0FC78AFB7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44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0CEE1-CD7D-4E3B-B074-877CE7F3931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94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D9731C-EFC3-40A7-A449-0F1BCFA03A6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000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55461E-7FD6-4142-AD0E-4F5483529326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976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http://pages.cs.wisc.edu/~cs368-2/CppTutorial/NOTES/STRING.html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AFDBE3-9199-4044-BD9B-1D94FB066A6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581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9431A0-C690-4AD7-B37C-2409C5D4A6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845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6C69D2-0F5F-4B92-B3C0-DDF3054C2BC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027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FF7FA9-9151-4433-9E88-DB51753E4BCA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9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EDDA5394-386B-40F9-80A5-85E4331C662B}" type="datetimeFigureOut">
              <a:rPr lang="en-US"/>
              <a:pPr>
                <a:defRPr/>
              </a:pPr>
              <a:t>8/28/2025</a:t>
            </a:fld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11-</a:t>
            </a:r>
            <a:fld id="{7CC709AB-4B2A-4AA8-9E44-EF20136A2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A5343-D104-4C49-9EDF-486B7176DF02}" type="datetimeFigureOut">
              <a:rPr lang="en-US"/>
              <a:pPr>
                <a:defRPr/>
              </a:pPr>
              <a:t>8/28/2025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137D2E9-B37A-4BA8-B170-07D631FB42F4}" type="datetimeFigureOut">
              <a:rPr lang="en-US"/>
              <a:pPr>
                <a:defRPr/>
              </a:pPr>
              <a:t>8/28/2025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11-</a:t>
            </a:r>
            <a:fld id="{EC9F5016-65BA-4026-BFE0-4E08D5EBA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388AA8E-BA86-42F5-9D30-738FDCB7A5AB}" type="datetimeFigureOut">
              <a:rPr lang="en-US"/>
              <a:pPr>
                <a:defRPr/>
              </a:pPr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11-</a:t>
            </a:r>
            <a:fld id="{D080EF77-38E6-43A2-B54D-EEE9C78D36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2C22CED-BBF1-4F53-9A13-DE4141133C02}" type="datetimeFigureOut">
              <a:rPr lang="en-US"/>
              <a:pPr>
                <a:defRPr/>
              </a:pPr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11-</a:t>
            </a:r>
            <a:fld id="{406E1C85-DA64-4159-B218-FCED6B7C17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F8652F2-678C-4DCE-BAF0-E9D178CAAD2D}" type="datetimeFigureOut">
              <a:rPr lang="en-US"/>
              <a:pPr>
                <a:defRPr/>
              </a:pPr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11-</a:t>
            </a:r>
            <a:fld id="{983C6675-F50B-4D3C-B638-A650766B2A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1A51A-EC5B-4679-B4C5-3DD173C152D9}" type="datetimeFigureOut">
              <a:rPr lang="en-US"/>
              <a:pPr>
                <a:defRPr/>
              </a:pPr>
              <a:t>8/28/2025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CEFC6D23-EB44-4261-9DE2-AE41A460CE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2069BE4-6295-4E5E-9E0F-7BFF7A8E4B0B}" type="datetimeFigureOut">
              <a:rPr lang="en-US"/>
              <a:pPr>
                <a:defRPr/>
              </a:pPr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11-</a:t>
            </a:r>
            <a:fld id="{28236D3C-0480-4FA2-96CD-9828937563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9D2FE40-4486-4866-B028-8F5EDF81668B}" type="datetimeFigureOut">
              <a:rPr lang="en-US"/>
              <a:pPr>
                <a:defRPr/>
              </a:pPr>
              <a:t>8/28/2025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11-</a:t>
            </a:r>
            <a:fld id="{BB23F742-EC53-46A0-BA86-220EF3B74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01FE2-11C1-4786-BB57-C4A0D5B16919}" type="datetimeFigureOut">
              <a:rPr lang="en-US"/>
              <a:pPr>
                <a:defRPr/>
              </a:pPr>
              <a:t>8/28/2025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DB8EF618-CC72-4C4C-A232-C652E8397B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BED30-B96F-425F-993E-0348CF78E30F}" type="datetimeFigureOut">
              <a:rPr lang="en-US"/>
              <a:pPr>
                <a:defRPr/>
              </a:pPr>
              <a:t>8/28/2025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11-</a:t>
            </a:r>
            <a:fld id="{0919F4CA-FC40-47E1-A8CC-63652C18D8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bg>
      <p:bgPr>
        <a:solidFill>
          <a:srgbClr val="E3D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DB128876-3522-4287-8037-363C8B3B322F}" type="datetimeFigureOut">
              <a:rPr lang="en-US"/>
              <a:pPr>
                <a:defRPr/>
              </a:pPr>
              <a:t>8/28/2025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11-</a:t>
            </a:r>
            <a:fld id="{50E84D70-99CE-4CA6-BA94-B2E8F1AF38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3" r:id="rId2"/>
    <p:sldLayoutId id="2147483848" r:id="rId3"/>
    <p:sldLayoutId id="2147483849" r:id="rId4"/>
    <p:sldLayoutId id="2147483850" r:id="rId5"/>
    <p:sldLayoutId id="2147483851" r:id="rId6"/>
    <p:sldLayoutId id="2147483844" r:id="rId7"/>
    <p:sldLayoutId id="2147483852" r:id="rId8"/>
    <p:sldLayoutId id="2147483853" r:id="rId9"/>
    <p:sldLayoutId id="2147483845" r:id="rId10"/>
    <p:sldLayoutId id="2147483846" r:id="rId11"/>
    <p:sldLayoutId id="214748385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Operator Overloading</a:t>
            </a:r>
          </a:p>
        </p:txBody>
      </p:sp>
      <p:sp>
        <p:nvSpPr>
          <p:cNvPr id="10243" name="Subtitle 5"/>
          <p:cNvSpPr>
            <a:spLocks noGrp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/>
            <a:r>
              <a:rPr lang="en-US" dirty="0"/>
              <a:t>Chp13 till page 915 from DS Malik C++ </a:t>
            </a:r>
            <a:r>
              <a:rPr lang="en-US" dirty="0" err="1"/>
              <a:t>prgramming</a:t>
            </a:r>
            <a:endParaRPr 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C12F9381-F0CA-41D7-8861-312EDC9BE72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E85E0-0BA3-E8FD-203E-45829E22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EB716B-6A5E-5F81-5779-610BB03AD56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752600"/>
            <a:ext cx="7772400" cy="1830388"/>
          </a:xfrm>
        </p:spPr>
        <p:txBody>
          <a:bodyPr/>
          <a:lstStyle/>
          <a:p>
            <a:pPr algn="ctr"/>
            <a:r>
              <a:rPr lang="en-GB" dirty="0"/>
              <a:t>Why operator overloading 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9639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2188C-85F8-ECDB-04BA-5D36F2C7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DCEF79-1896-C650-5411-A1670AA53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1000"/>
            <a:ext cx="8169628" cy="3475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04569-BC0B-44F2-CCB3-6D79720AD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038600"/>
            <a:ext cx="5486400" cy="1986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72D6C7-8D9A-C8FB-6D4D-5AD5E4C70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658" y="5257800"/>
            <a:ext cx="4153480" cy="29531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D69D5-4879-903C-A5AF-9B9814CF4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046" y="6025444"/>
            <a:ext cx="4324954" cy="352474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63638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Use operators with objects (operator overloading)</a:t>
            </a:r>
          </a:p>
          <a:p>
            <a:endParaRPr lang="en-PK" sz="2400" dirty="0"/>
          </a:p>
          <a:p>
            <a:r>
              <a:rPr lang="en-US" sz="2400" dirty="0"/>
              <a:t>To add two objects, we can make a function, and call it like </a:t>
            </a:r>
          </a:p>
          <a:p>
            <a:pPr lvl="1"/>
            <a:r>
              <a:rPr lang="en-US" sz="2000" b="1" dirty="0">
                <a:latin typeface="Courier New" pitchFamily="49" charset="0"/>
              </a:rPr>
              <a:t>Object3 = add(object1,object2);</a:t>
            </a:r>
          </a:p>
          <a:p>
            <a:pPr lvl="1"/>
            <a:r>
              <a:rPr lang="en-US" sz="2000" b="1" dirty="0">
                <a:latin typeface="Courier New" pitchFamily="49" charset="0"/>
              </a:rPr>
              <a:t>object3 = object1.add(object2);</a:t>
            </a:r>
          </a:p>
          <a:p>
            <a:pPr lvl="1"/>
            <a:endParaRPr lang="en-US" sz="2000" dirty="0"/>
          </a:p>
          <a:p>
            <a:r>
              <a:rPr lang="en-US" sz="2400" dirty="0"/>
              <a:t>With Operator Overloading, we can use the following concise notation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object3 = object2 + object1;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A6D45541-10D9-4C1B-A6F1-DD7C3D69F1F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534400" cy="3886200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sz="2400" dirty="0"/>
              <a:t>Operators such as </a:t>
            </a:r>
            <a:r>
              <a:rPr lang="en-US" sz="2400" b="1" dirty="0">
                <a:latin typeface="Courier New" pitchFamily="49" charset="0"/>
              </a:rPr>
              <a:t>=</a:t>
            </a:r>
            <a:r>
              <a:rPr lang="en-US" sz="2400" dirty="0"/>
              <a:t>, </a:t>
            </a:r>
            <a:r>
              <a:rPr lang="en-US" sz="2400" b="1" dirty="0">
                <a:latin typeface="Courier New" pitchFamily="49" charset="0"/>
              </a:rPr>
              <a:t>+</a:t>
            </a:r>
            <a:r>
              <a:rPr lang="en-US" sz="2400" dirty="0"/>
              <a:t>, and others can be redefined for use with objects of a class</a:t>
            </a:r>
          </a:p>
          <a:p>
            <a:pPr eaLnBrk="1" hangingPunct="1">
              <a:lnSpc>
                <a:spcPct val="85000"/>
              </a:lnSpc>
            </a:pPr>
            <a:endParaRPr lang="en-US" sz="2400" dirty="0"/>
          </a:p>
          <a:p>
            <a:pPr eaLnBrk="1" hangingPunct="1">
              <a:lnSpc>
                <a:spcPct val="85000"/>
              </a:lnSpc>
            </a:pPr>
            <a:r>
              <a:rPr lang="en-US" sz="2400" dirty="0"/>
              <a:t>Cannot create new operators</a:t>
            </a:r>
          </a:p>
          <a:p>
            <a:pPr eaLnBrk="1" hangingPunct="1">
              <a:lnSpc>
                <a:spcPct val="85000"/>
              </a:lnSpc>
            </a:pPr>
            <a:endParaRPr lang="en-US" sz="2400" dirty="0"/>
          </a:p>
          <a:p>
            <a:pPr eaLnBrk="1" hangingPunct="1">
              <a:lnSpc>
                <a:spcPct val="85000"/>
              </a:lnSpc>
            </a:pPr>
            <a:r>
              <a:rPr lang="en-US" sz="2400" dirty="0"/>
              <a:t>The name of the function for the overloaded operator is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operator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followed by the operator symbol, </a:t>
            </a:r>
            <a:r>
              <a:rPr lang="en-US" sz="2400" i="1" dirty="0"/>
              <a:t>e.g.</a:t>
            </a:r>
            <a:r>
              <a:rPr lang="en-US" sz="2400" dirty="0"/>
              <a:t>,</a:t>
            </a:r>
            <a:endParaRPr lang="en-PK" sz="2400" dirty="0"/>
          </a:p>
          <a:p>
            <a:pPr eaLnBrk="1" hangingPunct="1">
              <a:lnSpc>
                <a:spcPct val="85000"/>
              </a:lnSpc>
            </a:pPr>
            <a:endParaRPr lang="en-US" sz="2400" dirty="0"/>
          </a:p>
          <a:p>
            <a:pPr lvl="1" eaLnBrk="1" hangingPunct="1">
              <a:lnSpc>
                <a:spcPct val="85000"/>
              </a:lnSpc>
              <a:buFontTx/>
              <a:buNone/>
            </a:pPr>
            <a:r>
              <a:rPr lang="en-US" sz="2000" dirty="0"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operator+()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is function to overloaded </a:t>
            </a:r>
            <a:r>
              <a:rPr lang="en-US" sz="2000" b="1" dirty="0">
                <a:latin typeface="Courier New" pitchFamily="49" charset="0"/>
              </a:rPr>
              <a:t>+</a:t>
            </a:r>
            <a:r>
              <a:rPr lang="en-US" sz="2000" dirty="0"/>
              <a:t> operator</a:t>
            </a:r>
            <a:endParaRPr lang="en-PK" sz="2000" dirty="0"/>
          </a:p>
          <a:p>
            <a:pPr lvl="1" eaLnBrk="1" hangingPunct="1">
              <a:lnSpc>
                <a:spcPct val="85000"/>
              </a:lnSpc>
              <a:buFontTx/>
              <a:buNone/>
            </a:pPr>
            <a:endParaRPr lang="en-US" sz="2000" dirty="0"/>
          </a:p>
          <a:p>
            <a:pPr lvl="1" eaLnBrk="1" hangingPunct="1">
              <a:lnSpc>
                <a:spcPct val="85000"/>
              </a:lnSpc>
              <a:buFontTx/>
              <a:buNone/>
            </a:pPr>
            <a:r>
              <a:rPr lang="en-US" sz="2000" dirty="0"/>
              <a:t>	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operator=()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is function to overloaded </a:t>
            </a:r>
            <a:r>
              <a:rPr lang="en-US" sz="2000" b="1" dirty="0">
                <a:latin typeface="Courier New" pitchFamily="49" charset="0"/>
              </a:rPr>
              <a:t>=</a:t>
            </a:r>
            <a:r>
              <a:rPr lang="en-US" sz="2000" dirty="0"/>
              <a:t> operator</a:t>
            </a: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C707985B-5FFE-4FA3-8FB5-CE7248FA740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Operator Overloading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752600"/>
            <a:ext cx="86868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3" pitchFamily="18" charset="2"/>
              <a:buNone/>
            </a:pPr>
            <a:r>
              <a:rPr lang="en-US" sz="2400" dirty="0"/>
              <a:t>	A binary operator overloaded as member function needs only one parameter, which represents the operand on the right:</a:t>
            </a:r>
            <a:endParaRPr lang="en-PK" sz="2400" dirty="0"/>
          </a:p>
          <a:p>
            <a:pPr eaLnBrk="1" hangingPunct="1">
              <a:lnSpc>
                <a:spcPct val="90000"/>
              </a:lnSpc>
              <a:buFont typeface="Wingdings 3" pitchFamily="18" charset="2"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class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endParaRPr lang="en-US" sz="2400" b="1" dirty="0">
              <a:solidFill>
                <a:srgbClr val="3D8963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 private: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  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int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x;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 public: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  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operator+(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right);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};</a:t>
            </a:r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D0630B83-F020-4A83-83B1-8DC4AA97E83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Overloading + Operators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610600" cy="4572000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buFontTx/>
              <a:buChar char="•"/>
            </a:pPr>
            <a:r>
              <a:rPr lang="en-US" sz="2400" dirty="0"/>
              <a:t>The left operand of the overloaded binary operator is the calling object</a:t>
            </a:r>
          </a:p>
          <a:p>
            <a:pPr eaLnBrk="1" hangingPunct="1">
              <a:spcBef>
                <a:spcPct val="40000"/>
              </a:spcBef>
              <a:buFontTx/>
              <a:buChar char="•"/>
            </a:pPr>
            <a:r>
              <a:rPr lang="en-US" sz="2400" dirty="0"/>
              <a:t>The implicit left parameter is accessed through  </a:t>
            </a:r>
            <a:r>
              <a:rPr lang="en-US" sz="2400" b="1" dirty="0">
                <a:latin typeface="Courier New" pitchFamily="49" charset="0"/>
              </a:rPr>
              <a:t>this</a:t>
            </a:r>
            <a:r>
              <a:rPr lang="en-US" sz="2400" dirty="0"/>
              <a:t> pointer</a:t>
            </a:r>
            <a:endParaRPr lang="en-PK" sz="2400" dirty="0"/>
          </a:p>
          <a:p>
            <a:pPr eaLnBrk="1" hangingPunct="1">
              <a:spcBef>
                <a:spcPct val="40000"/>
              </a:spcBef>
              <a:buFontTx/>
              <a:buChar char="•"/>
            </a:pPr>
            <a:endParaRPr lang="en-US" sz="2400" dirty="0"/>
          </a:p>
          <a:p>
            <a:pPr eaLnBrk="1" hangingPunct="1">
              <a:lnSpc>
                <a:spcPct val="85000"/>
              </a:lnSpc>
              <a:spcBef>
                <a:spcPct val="4000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::operator+(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r)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{ 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sum;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 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sum.x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= x + </a:t>
            </a:r>
            <a:r>
              <a:rPr lang="en-US" sz="2400" b="1" dirty="0" err="1">
                <a:solidFill>
                  <a:srgbClr val="3D8963"/>
                </a:solidFill>
                <a:latin typeface="Courier New" pitchFamily="49" charset="0"/>
              </a:rPr>
              <a:t>r.x</a:t>
            </a: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; 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   return sum;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sz="2400" b="1" dirty="0">
                <a:solidFill>
                  <a:srgbClr val="3D8963"/>
                </a:solidFill>
                <a:latin typeface="Courier New" pitchFamily="49" charset="0"/>
              </a:rPr>
              <a:t> }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0309747F-AE10-4C64-A8DE-0CF7B92C844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Overloading Operators as Instance Members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81200"/>
            <a:ext cx="7924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dirty="0"/>
              <a:t>Operator can be invoked as a member function:</a:t>
            </a:r>
          </a:p>
          <a:p>
            <a:pPr eaLnBrk="1" hangingPunct="1">
              <a:lnSpc>
                <a:spcPct val="90000"/>
              </a:lnSpc>
              <a:buFont typeface="Wingdings 3" pitchFamily="18" charset="2"/>
              <a:buNone/>
            </a:pPr>
            <a:r>
              <a:rPr lang="en-US" b="1" dirty="0">
                <a:solidFill>
                  <a:srgbClr val="3D8963"/>
                </a:solidFill>
                <a:latin typeface="Courier New" pitchFamily="49" charset="0"/>
              </a:rPr>
              <a:t>   </a:t>
            </a:r>
            <a:r>
              <a:rPr lang="en-US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r>
              <a:rPr lang="en-US" b="1" dirty="0">
                <a:solidFill>
                  <a:srgbClr val="3D8963"/>
                </a:solidFill>
                <a:latin typeface="Courier New" pitchFamily="49" charset="0"/>
              </a:rPr>
              <a:t> a, b, s;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b="1" dirty="0">
                <a:solidFill>
                  <a:srgbClr val="3D8963"/>
                </a:solidFill>
                <a:latin typeface="Courier New" pitchFamily="49" charset="0"/>
              </a:rPr>
              <a:t>   s = </a:t>
            </a:r>
            <a:r>
              <a:rPr lang="en-US" b="1" dirty="0" err="1">
                <a:solidFill>
                  <a:srgbClr val="3D8963"/>
                </a:solidFill>
                <a:latin typeface="Courier New" pitchFamily="49" charset="0"/>
              </a:rPr>
              <a:t>a.operator</a:t>
            </a:r>
            <a:r>
              <a:rPr lang="en-US" b="1" dirty="0">
                <a:solidFill>
                  <a:srgbClr val="3D8963"/>
                </a:solidFill>
                <a:latin typeface="Courier New" pitchFamily="49" charset="0"/>
              </a:rPr>
              <a:t>+(b);</a:t>
            </a:r>
            <a:endParaRPr lang="en-PK" b="1" dirty="0">
              <a:solidFill>
                <a:srgbClr val="3D8963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endParaRPr lang="en-US" b="1" dirty="0">
              <a:solidFill>
                <a:srgbClr val="3D8963"/>
              </a:solidFill>
              <a:latin typeface="Courier New" pitchFamily="49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dirty="0"/>
              <a:t>It can also be invoked in the more conventional manner: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buFont typeface="Wingdings 3" pitchFamily="18" charset="2"/>
              <a:buNone/>
            </a:pPr>
            <a:r>
              <a:rPr lang="en-US" b="1" dirty="0">
                <a:solidFill>
                  <a:srgbClr val="3D8963"/>
                </a:solidFill>
                <a:latin typeface="Courier New" pitchFamily="49" charset="0"/>
              </a:rPr>
              <a:t>   </a:t>
            </a:r>
            <a:r>
              <a:rPr lang="en-US" b="1" dirty="0" err="1">
                <a:solidFill>
                  <a:srgbClr val="3D8963"/>
                </a:solidFill>
                <a:latin typeface="Courier New" pitchFamily="49" charset="0"/>
              </a:rPr>
              <a:t>OpClass</a:t>
            </a:r>
            <a:r>
              <a:rPr lang="en-US" b="1" dirty="0">
                <a:solidFill>
                  <a:srgbClr val="3D8963"/>
                </a:solidFill>
                <a:latin typeface="Courier New" pitchFamily="49" charset="0"/>
              </a:rPr>
              <a:t> a, b, s;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 3" pitchFamily="18" charset="2"/>
              <a:buNone/>
            </a:pPr>
            <a:r>
              <a:rPr lang="en-US" b="1" dirty="0">
                <a:solidFill>
                  <a:srgbClr val="3D8963"/>
                </a:solidFill>
                <a:latin typeface="Courier New" pitchFamily="49" charset="0"/>
              </a:rPr>
              <a:t>   s = a + b;</a:t>
            </a: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D3B2F631-A081-43D0-9A87-309A26903F3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Invoking an Overloaded Operator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lvl="1"/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 3" pitchFamily="18" charset="2"/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operator+(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endParaRPr lang="en-US" dirty="0"/>
          </a:p>
          <a:p>
            <a:r>
              <a:rPr lang="en-US" dirty="0"/>
              <a:t>Don’t we need two arguments?</a:t>
            </a:r>
          </a:p>
          <a:p>
            <a:pPr lvl="1"/>
            <a:r>
              <a:rPr lang="en-US" dirty="0"/>
              <a:t>Answer: No, the other operand is the object calling this “operator+” member function</a:t>
            </a:r>
          </a:p>
          <a:p>
            <a:pPr lvl="1"/>
            <a:endParaRPr lang="en-US" dirty="0"/>
          </a:p>
          <a:p>
            <a:r>
              <a:rPr lang="en-US" dirty="0"/>
              <a:t>Rule:</a:t>
            </a:r>
          </a:p>
          <a:p>
            <a:pPr lvl="1"/>
            <a:r>
              <a:rPr lang="en-US" dirty="0"/>
              <a:t>An overloaded operator always requires one less argument than its number of operands, since one operand is the object of which the operator function is a member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Number of Arguments for operator overloading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258A64AA-9355-4196-9B3A-405EAD394A5E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Distance class</a:t>
            </a: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355F82D9-3410-46C9-84C0-A856E9B4A69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09800" y="1447800"/>
            <a:ext cx="5562600" cy="5029200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>
              <a:buFont typeface="Wingdings 3" pitchFamily="18" charset="2"/>
              <a:buNone/>
              <a:defRPr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class Distance{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private: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feet;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float inches;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Distance operator+(Distance);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Distance()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		{ feet = 0; inches = 0; }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Distance(int a, float b)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		{ feet = a; inches = b;}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void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showdist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&lt;&lt;feet&lt;&lt;"  "&lt;&lt;inches&lt;&lt;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 3" pitchFamily="18" charset="2"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>
              <a:buFont typeface="Wingdings 3" pitchFamily="18" charset="2"/>
              <a:buNone/>
              <a:defRPr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PK" dirty="0"/>
              <a:t>E</a:t>
            </a:r>
            <a:r>
              <a:rPr lang="en-US" dirty="0" err="1"/>
              <a:t>xample</a:t>
            </a:r>
            <a:r>
              <a:rPr lang="en-US" dirty="0"/>
              <a:t>- Adding Objects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9FA8CC7E-6735-4794-81E1-36CD90F0A4D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1257300" y="2971800"/>
            <a:ext cx="6629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Distance d1(2,3),d2(5,7);</a:t>
            </a:r>
            <a:endParaRPr lang="en-PK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FR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Distance </a:t>
            </a:r>
            <a:r>
              <a:rPr lang="en-PK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fr-F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PK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= d1 + d2;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Operator+ member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09600" y="1371600"/>
            <a:ext cx="7620000" cy="23903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Distance Distance::operator+(Distance b)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Distance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ans.feet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feet +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b.feet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ans.inches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inches +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b.inches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	  }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8828"/>
            <a:ext cx="5257800" cy="21852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Distance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(5,3),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(7, 5) ,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PK" b="1" baseline="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en-PK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PK" b="1" dirty="0">
                <a:latin typeface="Courier New" pitchFamily="49" charset="0"/>
                <a:cs typeface="Courier New" pitchFamily="49" charset="0"/>
              </a:rPr>
              <a:t>   //z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.operator+(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y);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showdist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ret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urn 0;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3045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3E42CB-C6FB-E18A-4686-FB742FB4C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 overloading functions can be implemented as a</a:t>
            </a:r>
          </a:p>
          <a:p>
            <a:pPr lvl="1"/>
            <a:r>
              <a:rPr lang="en-US" dirty="0"/>
              <a:t>Member function of the class OR</a:t>
            </a:r>
          </a:p>
          <a:p>
            <a:pPr lvl="1"/>
            <a:r>
              <a:rPr lang="en-US" dirty="0"/>
              <a:t>As a global </a:t>
            </a:r>
            <a:r>
              <a:rPr lang="en-US" dirty="0" err="1"/>
              <a:t>fuction</a:t>
            </a:r>
            <a:r>
              <a:rPr lang="en-US" dirty="0"/>
              <a:t> (non-member)</a:t>
            </a:r>
          </a:p>
          <a:p>
            <a:r>
              <a:rPr lang="en-US" dirty="0"/>
              <a:t>Issues to address (non-member)</a:t>
            </a:r>
          </a:p>
          <a:p>
            <a:pPr lvl="1"/>
            <a:r>
              <a:rPr lang="en-US" dirty="0"/>
              <a:t>Private members cant be accessed directly</a:t>
            </a:r>
          </a:p>
          <a:p>
            <a:pPr lvl="1"/>
            <a:r>
              <a:rPr lang="en-US" dirty="0"/>
              <a:t>Number of parameters</a:t>
            </a:r>
            <a:endParaRPr lang="en-P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5CBCAD-90E1-1CD7-94F2-AAC8A798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vs non-member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0C3DB-1D49-5FBC-CF7A-FF13DC43B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23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Operator+ as a nonmember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33400" y="1676400"/>
            <a:ext cx="8077200" cy="21031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Distance operator+(Distance a, Distance b)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Distance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ans.setfeet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a.getfeet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 +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b.getfeet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ans.setinches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a.getinches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 +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b.getinches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0" y="4081866"/>
            <a:ext cx="5257800" cy="21852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Distance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(5,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8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(7, 5) ,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PK" b="1" baseline="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en-PK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PK" b="1" dirty="0">
                <a:latin typeface="Courier New" pitchFamily="49" charset="0"/>
                <a:cs typeface="Courier New" pitchFamily="49" charset="0"/>
              </a:rPr>
              <a:t>   //z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operator+(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x,y);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showdist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ret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urn 0;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8717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61402-509D-0D61-BAC2-CE6F5463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0FC9A-F805-B450-3EC7-605E9E8B9BFC}"/>
              </a:ext>
            </a:extLst>
          </p:cNvPr>
          <p:cNvSpPr/>
          <p:nvPr/>
        </p:nvSpPr>
        <p:spPr>
          <a:xfrm>
            <a:off x="457200" y="2514600"/>
            <a:ext cx="8472384" cy="21031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Distance operator+(Distance a, Distance b)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Distance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ans.setfeet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a.getfeet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 +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b.getfeet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ans.setinches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a.getinches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 +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b.getinches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28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54E105-21E4-D0F1-D739-78890169296B}"/>
              </a:ext>
            </a:extLst>
          </p:cNvPr>
          <p:cNvSpPr/>
          <p:nvPr/>
        </p:nvSpPr>
        <p:spPr>
          <a:xfrm>
            <a:off x="457200" y="0"/>
            <a:ext cx="8391456" cy="23903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Distance Distance::operator+(Distance b)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Distance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ans.feet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feet +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b.feet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ans.inches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inches +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b.inches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	  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40F41E-9EC5-3C5A-2AA9-7FE2BD3F6268}"/>
              </a:ext>
            </a:extLst>
          </p:cNvPr>
          <p:cNvSpPr/>
          <p:nvPr/>
        </p:nvSpPr>
        <p:spPr>
          <a:xfrm>
            <a:off x="3668471" y="4741942"/>
            <a:ext cx="5257800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Distance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(5,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8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(7, 5) ,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PK" b="1" baseline="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PK" b="1" dirty="0">
                <a:latin typeface="Courier New" pitchFamily="49" charset="0"/>
                <a:cs typeface="Courier New" pitchFamily="49" charset="0"/>
              </a:rPr>
              <a:t>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en-PK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z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showdist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ret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urn 0;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5501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function declared as friend in a class can access its data members directly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2644170"/>
            <a:ext cx="8534400" cy="23903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class Distance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feet;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float inches;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friend Distance operator+(Distance, Distance);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. . . .</a:t>
            </a:r>
          </a:p>
        </p:txBody>
      </p:sp>
    </p:spTree>
    <p:extLst>
      <p:ext uri="{BB962C8B-B14F-4D97-AF65-F5344CB8AC3E}">
        <p14:creationId xmlns:p14="http://schemas.microsoft.com/office/powerpoint/2010/main" val="1917628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Operator+ as friend function of Distance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4400" y="2521059"/>
            <a:ext cx="7391400" cy="23903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Distance operator+(Distance a, Distance b)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Distance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ans.feet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a.feet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b.feet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ans.inches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a.inches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b.inches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ans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174695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FA8672-4E15-7690-6284-9D0A0694E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should be the return types when overloading</a:t>
            </a:r>
          </a:p>
          <a:p>
            <a:r>
              <a:rPr lang="en-US" dirty="0"/>
              <a:t>+</a:t>
            </a:r>
          </a:p>
          <a:p>
            <a:r>
              <a:rPr lang="en-US" dirty="0"/>
              <a:t>+=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41CB67-168B-5D44-DD02-32839589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+ vs +=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53172-393A-1841-3966-E3B40EC7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99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Operator+= member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2000" y="2521059"/>
            <a:ext cx="7620000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PK" sz="3200" dirty="0"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Distance::operator+=(Distance b)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	  feet = feet +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b.feet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    inches = inches +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b.inches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3200">
                <a:latin typeface="Courier New" pitchFamily="49" charset="0"/>
                <a:cs typeface="Courier New" pitchFamily="49" charset="0"/>
              </a:rPr>
              <a:t>   }</a:t>
            </a:r>
          </a:p>
          <a:p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278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Every object of a class maintains a (hidden) pointer to itself, and the name of this pointer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this</a:t>
            </a:r>
          </a:p>
          <a:p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400" dirty="0"/>
              <a:t>A member function of a class can (directly) access the member variables of that class for a given object.</a:t>
            </a:r>
          </a:p>
          <a:p>
            <a:endParaRPr lang="en-US" sz="2400" dirty="0"/>
          </a:p>
          <a:p>
            <a:r>
              <a:rPr lang="en-US" sz="2400" dirty="0"/>
              <a:t>Sometimes, it is necessary for a member function to refer to the object as a whole, rather than the object’s individual member variables.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pointer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64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Distance class</a:t>
            </a:r>
            <a:br>
              <a:rPr lang="en-US" dirty="0"/>
            </a:br>
            <a:r>
              <a:rPr lang="en-US" dirty="0"/>
              <a:t>Overloading Relational Operators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2AF455AC-2FD6-4A6C-848C-70BAAD7BDE4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3C9F08-1C7A-BA25-15DA-436CC8E3B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676400"/>
            <a:ext cx="5869305" cy="2724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E1ED7D-21B0-7854-86F6-C31B893968B2}"/>
              </a:ext>
            </a:extLst>
          </p:cNvPr>
          <p:cNvSpPr txBox="1"/>
          <p:nvPr/>
        </p:nvSpPr>
        <p:spPr>
          <a:xfrm>
            <a:off x="990600" y="4648200"/>
            <a:ext cx="5791200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Binary operators ?</a:t>
            </a: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Return type?</a:t>
            </a:r>
            <a:endParaRPr lang="en-PK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6A7D9B-A19E-ECC7-FC4E-BD6BB824C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Till now we only saw examples of op. overloading involving same class objects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op. overloading is also possible involving objects from different classes</a:t>
            </a:r>
          </a:p>
          <a:p>
            <a:endParaRPr lang="en-P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8EE611-0351-61DA-3F08-F3CE4203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Overloading involving different classes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21E46-0910-2EE9-5282-7DBB9781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2F215E-2DCD-80D8-072D-C39FEDB16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438400"/>
            <a:ext cx="6629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Distance d1(2,3),d2(5,7);</a:t>
            </a:r>
            <a:endParaRPr lang="en-PK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FR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Distance </a:t>
            </a:r>
            <a:r>
              <a:rPr lang="en-PK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fr-F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PK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= d1 + d2;</a:t>
            </a:r>
          </a:p>
        </p:txBody>
      </p:sp>
    </p:spTree>
    <p:extLst>
      <p:ext uri="{BB962C8B-B14F-4D97-AF65-F5344CB8AC3E}">
        <p14:creationId xmlns:p14="http://schemas.microsoft.com/office/powerpoint/2010/main" val="1166232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Till now, we have overloaded operators to work with objects of same classes, </a:t>
            </a:r>
          </a:p>
          <a:p>
            <a:r>
              <a:rPr lang="en-US" dirty="0"/>
              <a:t>but its also possible to work with objects of different classes.</a:t>
            </a:r>
          </a:p>
          <a:p>
            <a:r>
              <a:rPr lang="en-US" dirty="0"/>
              <a:t>Example: Adding Distance and </a:t>
            </a:r>
            <a:r>
              <a:rPr lang="en-US" dirty="0" err="1"/>
              <a:t>mDist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Overloading with objects of different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2000" y="4057392"/>
            <a:ext cx="3200400" cy="17338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class Distance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float feet;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. . . 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33592"/>
            <a:ext cx="3200400" cy="17338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mDist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float meter;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. . . .</a:t>
            </a:r>
          </a:p>
        </p:txBody>
      </p:sp>
    </p:spTree>
    <p:extLst>
      <p:ext uri="{BB962C8B-B14F-4D97-AF65-F5344CB8AC3E}">
        <p14:creationId xmlns:p14="http://schemas.microsoft.com/office/powerpoint/2010/main" val="3885602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overloading with different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1828800"/>
            <a:ext cx="3200400" cy="17338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class Distance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float feet;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. . . 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0" y="1905000"/>
            <a:ext cx="3200400" cy="17338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mDist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float meter;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. . . 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3647275"/>
            <a:ext cx="4419600" cy="17338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main()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Distance d(4),res;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mDist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md(8);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  res = d </a:t>
            </a:r>
            <a:r>
              <a:rPr lang="en-US" sz="3200">
                <a:latin typeface="Courier New" pitchFamily="49" charset="0"/>
                <a:cs typeface="Courier New" pitchFamily="49" charset="0"/>
              </a:rPr>
              <a:t>+ md;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435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Overloading as non-member and as a member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4191000"/>
            <a:ext cx="7010400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Distance Distance::operator+(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mDist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6858000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Distance operator+(Distance a,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mDist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3200" dirty="0">
                <a:latin typeface="Courier New" pitchFamily="49" charset="0"/>
                <a:cs typeface="Courier New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8991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2938462"/>
          </a:xfrm>
        </p:spPr>
        <p:txBody>
          <a:bodyPr/>
          <a:lstStyle/>
          <a:p>
            <a:r>
              <a:rPr lang="en-US"/>
              <a:t>To input and output distances into distance class, we defined getdist() and showdist() functions</a:t>
            </a:r>
          </a:p>
          <a:p>
            <a:r>
              <a:rPr lang="en-US"/>
              <a:t>What if we would like to use &lt;&lt; operator to show the distance, and </a:t>
            </a:r>
          </a:p>
          <a:p>
            <a:r>
              <a:rPr lang="en-US"/>
              <a:t>Similarly &gt;&gt; to input a distance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Overloading &lt;&lt; and &gt;&gt; 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ECD7FC42-9287-4F79-B554-D0DBE8E126D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724400" y="4419600"/>
            <a:ext cx="4191000" cy="18288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lang="en-US" baseline="0" dirty="0">
                <a:latin typeface="Courier New" pitchFamily="49" charset="0"/>
                <a:cs typeface="Courier New" pitchFamily="49" charset="0"/>
              </a:rPr>
              <a:t>Distance d1;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lang="en-US" baseline="0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baseline="0" dirty="0">
                <a:latin typeface="Courier New" pitchFamily="49" charset="0"/>
                <a:cs typeface="Courier New" pitchFamily="49" charset="0"/>
              </a:rPr>
              <a:t>&gt;&gt;d1;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lang="en-US" baseline="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aseline="0" dirty="0">
                <a:latin typeface="Courier New" pitchFamily="49" charset="0"/>
                <a:cs typeface="Courier New" pitchFamily="49" charset="0"/>
              </a:rPr>
              <a:t>&lt;&lt;d1;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1000" y="4419600"/>
            <a:ext cx="4191000" cy="18288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lang="en-US" baseline="0" dirty="0">
                <a:latin typeface="Courier New" pitchFamily="49" charset="0"/>
                <a:cs typeface="Courier New" pitchFamily="49" charset="0"/>
              </a:rPr>
              <a:t>Distance d1;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lang="en-US" baseline="0">
                <a:latin typeface="Courier New" pitchFamily="49" charset="0"/>
                <a:cs typeface="Courier New" pitchFamily="49" charset="0"/>
              </a:rPr>
              <a:t>d1.getInput</a:t>
            </a:r>
            <a:r>
              <a:rPr lang="en-US" baseline="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None/>
              <a:defRPr/>
            </a:pPr>
            <a:r>
              <a:rPr lang="en-US" baseline="0" dirty="0">
                <a:latin typeface="Courier New" pitchFamily="49" charset="0"/>
                <a:cs typeface="Courier New" pitchFamily="49" charset="0"/>
              </a:rPr>
              <a:t>d1.showdist();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1490662"/>
          </a:xfrm>
        </p:spPr>
        <p:txBody>
          <a:bodyPr/>
          <a:lstStyle/>
          <a:p>
            <a:r>
              <a:rPr lang="en-US" dirty="0" err="1"/>
              <a:t>cout</a:t>
            </a:r>
            <a:r>
              <a:rPr lang="en-US" dirty="0"/>
              <a:t>&lt;&lt; d1;</a:t>
            </a:r>
          </a:p>
          <a:p>
            <a:r>
              <a:rPr lang="en-US" dirty="0"/>
              <a:t>&lt;&lt; is a binary operator, </a:t>
            </a:r>
          </a:p>
          <a:p>
            <a:pPr lvl="1"/>
            <a:r>
              <a:rPr lang="en-US" dirty="0"/>
              <a:t>Left operand is </a:t>
            </a:r>
            <a:r>
              <a:rPr lang="en-US" b="1" dirty="0" err="1"/>
              <a:t>cout</a:t>
            </a:r>
            <a:r>
              <a:rPr lang="en-US" dirty="0"/>
              <a:t> object (of type </a:t>
            </a:r>
            <a:r>
              <a:rPr lang="en-US" dirty="0" err="1"/>
              <a:t>ostream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Right operand is </a:t>
            </a:r>
            <a:r>
              <a:rPr lang="en-US" b="1" dirty="0"/>
              <a:t>d1</a:t>
            </a:r>
            <a:r>
              <a:rPr lang="en-US" dirty="0"/>
              <a:t> object (of type Distance)</a:t>
            </a:r>
          </a:p>
          <a:p>
            <a:r>
              <a:rPr lang="en-US" dirty="0"/>
              <a:t>This overloaded function can NOT be a member function, WHY?</a:t>
            </a:r>
          </a:p>
          <a:p>
            <a:pPr lvl="1"/>
            <a:r>
              <a:rPr lang="en-US" dirty="0"/>
              <a:t>as the left operand belongs to a class, that we cant change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Overloading &lt;&lt;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EB1A322A-4E87-49BA-8F2F-412FAF57587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838200" y="4800600"/>
            <a:ext cx="7772400" cy="20574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ostream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&amp; operator&lt;&lt;(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ostream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&amp; out, Distance &amp;b)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     out&lt;&lt;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b.getfeet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()&lt;&lt;"  "&lt;&lt;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b.getinch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()&lt;&lt;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		return out;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957262"/>
          </a:xfrm>
        </p:spPr>
        <p:txBody>
          <a:bodyPr/>
          <a:lstStyle/>
          <a:p>
            <a:r>
              <a:rPr lang="en-US"/>
              <a:t>cin&gt;&gt;d1;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Overloading &gt;&gt;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0CE4825B-8467-467F-893B-B467C5547A70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38200" y="2667000"/>
            <a:ext cx="7772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void operator&gt;&gt;(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istream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&amp; in, Distance &amp; b)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;   float f;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&lt;&lt;"Enter feet ";   in&gt;&gt;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b.setfeet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&lt;&lt;"Enter inches "; in&gt;&gt;f;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aseline="0" dirty="0" err="1">
                <a:latin typeface="Courier New" pitchFamily="49" charset="0"/>
                <a:cs typeface="Courier New" pitchFamily="49" charset="0"/>
              </a:rPr>
              <a:t>b.setinch</a:t>
            </a: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(f);</a:t>
            </a:r>
          </a:p>
          <a:p>
            <a:pPr marL="365125" indent="-255588" eaLnBrk="0" hangingPunct="0"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aseline="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C++ operators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057400"/>
            <a:ext cx="9029701" cy="260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664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3473F36B-A884-4017-8DB0-09158ABFCB70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5263" y="2362200"/>
            <a:ext cx="5849937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65228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144963"/>
          </a:xfrm>
        </p:spPr>
        <p:txBody>
          <a:bodyPr/>
          <a:lstStyle/>
          <a:p>
            <a:r>
              <a:rPr lang="en-PK" dirty="0">
                <a:cs typeface="Courier New" pitchFamily="49" charset="0"/>
              </a:rPr>
              <a:t>Non Member function</a:t>
            </a:r>
          </a:p>
          <a:p>
            <a:pPr lvl="1"/>
            <a:r>
              <a:rPr lang="en-PK" dirty="0">
                <a:cs typeface="Courier New" pitchFamily="49" charset="0"/>
              </a:rPr>
              <a:t>The number of parameters equal number of operands for that operator</a:t>
            </a:r>
            <a:endParaRPr lang="en-US" dirty="0">
              <a:cs typeface="Courier New" pitchFamily="49" charset="0"/>
            </a:endParaRPr>
          </a:p>
          <a:p>
            <a:pPr>
              <a:buFont typeface="Wingdings 3" pitchFamily="18" charset="2"/>
              <a:buNone/>
            </a:pPr>
            <a:endParaRPr lang="en-PK" dirty="0">
              <a:cs typeface="Courier New" pitchFamily="49" charset="0"/>
            </a:endParaRPr>
          </a:p>
          <a:p>
            <a:r>
              <a:rPr lang="en-PK" dirty="0">
                <a:cs typeface="Courier New" pitchFamily="49" charset="0"/>
              </a:rPr>
              <a:t>Member functions</a:t>
            </a:r>
            <a:r>
              <a:rPr lang="en-US" dirty="0">
                <a:cs typeface="Courier New" pitchFamily="49" charset="0"/>
              </a:rPr>
              <a:t>		</a:t>
            </a:r>
            <a:endParaRPr lang="en-US" dirty="0"/>
          </a:p>
          <a:p>
            <a:pPr lvl="1"/>
            <a:r>
              <a:rPr lang="en-PK" dirty="0"/>
              <a:t>The number of arguments are</a:t>
            </a:r>
            <a:r>
              <a:rPr lang="en-US" dirty="0"/>
              <a:t> one less than </a:t>
            </a:r>
            <a:r>
              <a:rPr lang="en-PK" dirty="0"/>
              <a:t>the</a:t>
            </a:r>
            <a:r>
              <a:rPr lang="en-US" dirty="0"/>
              <a:t> number of operands</a:t>
            </a:r>
            <a:r>
              <a:rPr lang="en-PK" dirty="0"/>
              <a:t> for that operator</a:t>
            </a:r>
            <a:r>
              <a:rPr lang="en-US" dirty="0"/>
              <a:t>, since one operand is the </a:t>
            </a:r>
            <a:r>
              <a:rPr lang="en-PK" dirty="0"/>
              <a:t>calling </a:t>
            </a:r>
            <a:r>
              <a:rPr lang="en-US" dirty="0"/>
              <a:t>object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Number of Arguments for operator overloading</a:t>
            </a:r>
            <a:r>
              <a:rPr lang="en-PK" dirty="0"/>
              <a:t> function</a:t>
            </a:r>
            <a:endParaRPr 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258A64AA-9355-4196-9B3A-405EAD394A5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80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1009" y="1280285"/>
            <a:ext cx="8229600" cy="5473700"/>
          </a:xfrm>
        </p:spPr>
        <p:txBody>
          <a:bodyPr/>
          <a:lstStyle/>
          <a:p>
            <a:r>
              <a:rPr lang="en-PK" dirty="0"/>
              <a:t>[ ] array index operator</a:t>
            </a:r>
          </a:p>
          <a:p>
            <a:pPr lvl="1"/>
            <a:r>
              <a:rPr lang="en-PK" dirty="0"/>
              <a:t>There is no logical operation we would like to perform with this operaor on Distance class, so wait for the next example</a:t>
            </a:r>
          </a:p>
          <a:p>
            <a:pPr lvl="1"/>
            <a:endParaRPr lang="en-PK" dirty="0"/>
          </a:p>
          <a:p>
            <a:r>
              <a:rPr lang="en-PK" dirty="0"/>
              <a:t>++ and –- (Increment &amp; Decrement operators)</a:t>
            </a:r>
          </a:p>
          <a:p>
            <a:pPr lvl="1"/>
            <a:r>
              <a:rPr lang="en-PK" dirty="0"/>
              <a:t>There are two cases to be dealt with</a:t>
            </a:r>
          </a:p>
          <a:p>
            <a:pPr lvl="2"/>
            <a:r>
              <a:rPr lang="en-US" dirty="0"/>
              <a:t>P</a:t>
            </a:r>
            <a:r>
              <a:rPr lang="en-PK" dirty="0"/>
              <a:t>ost increment/decrement</a:t>
            </a:r>
          </a:p>
          <a:p>
            <a:pPr lvl="2"/>
            <a:r>
              <a:rPr lang="en-US" dirty="0"/>
              <a:t>P</a:t>
            </a:r>
            <a:r>
              <a:rPr lang="en-PK" dirty="0"/>
              <a:t>re increment/decrement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95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Lets continue with Distance class</a:t>
            </a:r>
          </a:p>
          <a:p>
            <a:pPr lvl="1"/>
            <a:r>
              <a:rPr lang="en-PK" dirty="0"/>
              <a:t>what logic should be programmed for increment and decrement ??</a:t>
            </a:r>
          </a:p>
          <a:p>
            <a:r>
              <a:rPr lang="en-PK" dirty="0"/>
              <a:t>Number of paramenters ??</a:t>
            </a:r>
          </a:p>
          <a:p>
            <a:r>
              <a:rPr lang="en-PK" dirty="0"/>
              <a:t>What return type of the function should be ??</a:t>
            </a:r>
          </a:p>
          <a:p>
            <a:pPr lvl="1"/>
            <a:r>
              <a:rPr lang="en-PK" dirty="0"/>
              <a:t>Lets first revise the use of these operators with integers </a:t>
            </a:r>
          </a:p>
          <a:p>
            <a:pPr lvl="1"/>
            <a:endParaRPr lang="en-PK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operators </a:t>
            </a:r>
            <a:r>
              <a:rPr lang="en-PK" dirty="0"/>
              <a:t>++,  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480969"/>
            <a:ext cx="784225" cy="292894"/>
          </a:xfrm>
        </p:spPr>
        <p:txBody>
          <a:bodyPr/>
          <a:lstStyle/>
          <a:p>
            <a:pPr>
              <a:defRPr/>
            </a:pPr>
            <a:r>
              <a:rPr lang="en-US" dirty="0"/>
              <a:t>11-</a:t>
            </a:r>
            <a:fld id="{A6F1D58C-BBAB-4806-9F63-4342C959379F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4418866"/>
            <a:ext cx="4114800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PK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int a = 5, b=10;</a:t>
            </a:r>
          </a:p>
          <a:p>
            <a:r>
              <a:rPr lang="en-PK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b++;</a:t>
            </a:r>
          </a:p>
          <a:p>
            <a:r>
              <a:rPr lang="en-PK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 = a++;</a:t>
            </a:r>
          </a:p>
          <a:p>
            <a:r>
              <a:rPr lang="en-PK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++b; </a:t>
            </a:r>
          </a:p>
          <a:p>
            <a:r>
              <a:rPr lang="en-PK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b = ++a;</a:t>
            </a:r>
            <a:endParaRPr lang="en-P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PK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02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1871662"/>
          </a:xfrm>
        </p:spPr>
        <p:txBody>
          <a:bodyPr/>
          <a:lstStyle/>
          <a:p>
            <a:r>
              <a:rPr lang="en-US"/>
              <a:t>With reference, a new name or alias is created for an existing variable</a:t>
            </a:r>
          </a:p>
          <a:p>
            <a:r>
              <a:rPr lang="en-US"/>
              <a:t>A reference must be initialized at the time of declaration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Reference 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051AD094-CD74-418B-9F45-D0133CC75C7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6800" y="3810000"/>
            <a:ext cx="3581400" cy="15700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3200" baseline="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a=5;</a:t>
            </a:r>
          </a:p>
          <a:p>
            <a:pPr>
              <a:defRPr/>
            </a:pPr>
            <a:r>
              <a:rPr lang="en-US" sz="3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&amp;b = a;</a:t>
            </a:r>
          </a:p>
          <a:p>
            <a:pPr>
              <a:defRPr/>
            </a:pPr>
            <a:r>
              <a:rPr lang="en-US" sz="3200" dirty="0">
                <a:latin typeface="Courier New" pitchFamily="49" charset="0"/>
                <a:cs typeface="Courier New" pitchFamily="49" charset="0"/>
              </a:rPr>
              <a:t>    b++;</a:t>
            </a:r>
          </a:p>
          <a:p>
            <a:pPr>
              <a:defRPr/>
            </a:pPr>
            <a:r>
              <a:rPr lang="en-US" sz="3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&lt;&lt;a;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Pass by Value and Pass by Reference</a:t>
            </a: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D819420E-4041-43F8-8907-00979E4EE417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4648200" y="2028825"/>
            <a:ext cx="28194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urier New" pitchFamily="49" charset="0"/>
                <a:cs typeface="Courier New" pitchFamily="49" charset="0"/>
              </a:rPr>
              <a:t>void f(int &amp;n)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    n++;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>
              <a:latin typeface="Courier New" pitchFamily="49" charset="0"/>
              <a:cs typeface="Courier New" pitchFamily="49" charset="0"/>
            </a:endParaRP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    int x = 2;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    f(x);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    cout &lt;&lt; x;</a:t>
            </a:r>
          </a:p>
          <a:p>
            <a:r>
              <a:rPr lang="en-US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762000" y="2000250"/>
            <a:ext cx="24384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void f(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n++;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x = 2;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f(x);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&lt;&lt; x;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Pre Increment/Decrement Operator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143000" y="1828800"/>
            <a:ext cx="5394751" cy="211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CEFC6D23-EB44-4261-9DE2-AE41A460CEF1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Post Increment/Decrement Operator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1295400" y="1828800"/>
            <a:ext cx="6025737" cy="28172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4800600"/>
            <a:ext cx="716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int parameter is a dummy one</a:t>
            </a:r>
          </a:p>
          <a:p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its purpose is just to differentiate between the pre increment and post increment</a:t>
            </a:r>
          </a:p>
        </p:txBody>
      </p:sp>
    </p:spTree>
    <p:extLst>
      <p:ext uri="{BB962C8B-B14F-4D97-AF65-F5344CB8AC3E}">
        <p14:creationId xmlns:p14="http://schemas.microsoft.com/office/powerpoint/2010/main" val="4536484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1033463"/>
          </a:xfrm>
        </p:spPr>
        <p:txBody>
          <a:bodyPr/>
          <a:lstStyle/>
          <a:p>
            <a:r>
              <a:rPr lang="en-US"/>
              <a:t>Lets take an example, where we can add (concatenate) two strings</a:t>
            </a:r>
          </a:p>
          <a:p>
            <a:endParaRPr lang="en-US"/>
          </a:p>
          <a:p>
            <a:pPr lvl="1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F84F0DA9-8501-439E-B6DF-0DD9DBF71AF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0635" y="2998304"/>
            <a:ext cx="4191000" cy="2308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char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[50];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public: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“”;};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(char a[])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{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strcpy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arr,a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);}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void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dispStr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(){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;}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400" y="2971800"/>
            <a:ext cx="3733800" cy="28003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str1("programming");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str2(" for engineers");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str3;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str3 = str1</a:t>
            </a:r>
            <a:r>
              <a:rPr lang="en-PK" dirty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str2;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str3.dispStr();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4824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1033463"/>
          </a:xfrm>
        </p:spPr>
        <p:txBody>
          <a:bodyPr/>
          <a:lstStyle/>
          <a:p>
            <a:r>
              <a:rPr lang="en-US"/>
              <a:t>Lets now add (concatenate) them using ‘+’ operator</a:t>
            </a:r>
          </a:p>
          <a:p>
            <a:endParaRPr lang="en-US"/>
          </a:p>
          <a:p>
            <a:pPr lvl="1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5C69D061-FB64-4AC8-B21D-C5B8684646E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47800" y="2169577"/>
            <a:ext cx="5257800" cy="37035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str1("programming");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str2(" for engineers");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str3;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>
              <a:defRPr/>
            </a:pPr>
            <a:r>
              <a:rPr lang="en-PK" sz="2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str3 = str1 + str2;</a:t>
            </a:r>
            <a:endParaRPr lang="en-PK" sz="28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PK" sz="2800" b="1" dirty="0">
                <a:latin typeface="Courier New" pitchFamily="49" charset="0"/>
                <a:cs typeface="Courier New" pitchFamily="49" charset="0"/>
              </a:rPr>
              <a:t>	cout &lt;&lt; str3;</a:t>
            </a:r>
          </a:p>
          <a:p>
            <a:pPr>
              <a:defRPr/>
            </a:pPr>
            <a:r>
              <a:rPr lang="en-PK" sz="2800" b="1" dirty="0">
                <a:latin typeface="Courier New" pitchFamily="49" charset="0"/>
                <a:cs typeface="Courier New" pitchFamily="49" charset="0"/>
              </a:rPr>
              <a:t>	cout &lt;&lt; str3[1]</a:t>
            </a:r>
          </a:p>
          <a:p>
            <a:pPr>
              <a:defRPr/>
            </a:pPr>
            <a:r>
              <a:rPr lang="en-PK" sz="2800" b="1" dirty="0">
                <a:latin typeface="Courier New" pitchFamily="49" charset="0"/>
                <a:cs typeface="Courier New" pitchFamily="49" charset="0"/>
              </a:rPr>
              <a:t>	str3[2] = ‘z’;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str3.dispStr();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8779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3E97FDE6-0D85-4F68-945C-076DE8B7A9C5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43000" y="1828800"/>
            <a:ext cx="6400800" cy="23903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PK" sz="2800" dirty="0">
                <a:latin typeface="Courier New" pitchFamily="49" charset="0"/>
                <a:cs typeface="Courier New" pitchFamily="49" charset="0"/>
              </a:rPr>
              <a:t>mystring::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operator+(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res;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strcpy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res.arr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strcat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res.arr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b.arr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   return res;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514695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957262"/>
          </a:xfrm>
        </p:spPr>
        <p:txBody>
          <a:bodyPr/>
          <a:lstStyle/>
          <a:p>
            <a:r>
              <a:rPr lang="en-US"/>
              <a:t>Overloading other operators</a:t>
            </a:r>
          </a:p>
          <a:p>
            <a:pPr lvl="1">
              <a:buFont typeface="Verdana" pitchFamily="34" charset="0"/>
              <a:buNone/>
            </a:pPr>
            <a:r>
              <a:rPr lang="en-US"/>
              <a:t>	&gt; , &lt; , ==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mystring</a:t>
            </a:r>
            <a:r>
              <a:rPr lang="en-US" dirty="0"/>
              <a:t> class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FD12C23E-725D-4324-9D36-5C7C66AECAB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2925763"/>
            <a:ext cx="457200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PK" dirty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operator==(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if(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strcmp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b.arr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)==0)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    return 1;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    else return 0;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78211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Overloading [] operator</a:t>
            </a: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CF0F2783-422D-4881-BBBC-429997E23020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90600" y="3048000"/>
            <a:ext cx="6096000" cy="1241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char&amp;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mystring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::operator[](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    return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arr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defRPr/>
            </a:pPr>
            <a:r>
              <a:rPr lang="en-US" sz="2800" dirty="0">
                <a:latin typeface="Courier New" pitchFamily="49" charset="0"/>
                <a:cs typeface="Courier New" pitchFamily="49" charset="0"/>
              </a:rPr>
              <a:t>    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program with different classes, with each class overloading the same operator, e.g., ‘+’ will have no problem in its working</a:t>
            </a:r>
          </a:p>
          <a:p>
            <a:r>
              <a:rPr lang="en-US"/>
              <a:t>Based on the type of operand, the relevant operator overloaded function will be called in to action.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Multiple overloading</a:t>
            </a:r>
            <a:r>
              <a:rPr lang="en-PK" dirty="0"/>
              <a:t> functions for same operators</a:t>
            </a:r>
            <a:endParaRPr 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B5ABCC84-40D7-46E5-B0B8-9961C20996AA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Member vs non-member operator overloading</a:t>
            </a:r>
          </a:p>
          <a:p>
            <a:r>
              <a:rPr lang="en-US"/>
              <a:t>friend function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Related topics</a:t>
            </a:r>
          </a:p>
        </p:txBody>
      </p:sp>
      <p:sp>
        <p:nvSpPr>
          <p:cNvPr id="3379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D7C35AEF-1F1D-4D92-934C-01A433C232AD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1"/>
          <p:cNvSpPr>
            <a:spLocks noGrp="1"/>
          </p:cNvSpPr>
          <p:nvPr>
            <p:ph idx="1"/>
          </p:nvPr>
        </p:nvSpPr>
        <p:spPr>
          <a:xfrm>
            <a:off x="457200" y="1445347"/>
            <a:ext cx="8229600" cy="4525962"/>
          </a:xfrm>
        </p:spPr>
        <p:txBody>
          <a:bodyPr/>
          <a:lstStyle/>
          <a:p>
            <a:r>
              <a:rPr lang="en-US" dirty="0"/>
              <a:t>#include &lt;string&gt;</a:t>
            </a:r>
          </a:p>
          <a:p>
            <a:r>
              <a:rPr lang="en-US" dirty="0"/>
              <a:t>Standard class of C++</a:t>
            </a:r>
          </a:p>
          <a:p>
            <a:r>
              <a:rPr lang="en-US" dirty="0"/>
              <a:t>It contains number of constructors, functions, and overloaded operator functions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Standard Library string class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2F74D532-45E3-43CE-A323-2953A40FA44A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07892D-9394-4877-4F71-3D9136E66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274638"/>
            <a:ext cx="34290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/>
              <a:t>string example</a:t>
            </a:r>
            <a:br>
              <a:rPr lang="en-US" dirty="0"/>
            </a:br>
            <a:r>
              <a:rPr lang="en-US" sz="4400" dirty="0"/>
              <a:t>&lt;-     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C42EF-9A6A-14E2-B77B-10F60202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3F61F-7194-C3E1-AFCF-8E05D248D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5811061" cy="5639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3ABB20-72C9-10BF-C10D-FC0DFB962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995" y="5771998"/>
            <a:ext cx="3439005" cy="1086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A62B81-583D-5E48-866C-68E7D8FA51AE}"/>
              </a:ext>
            </a:extLst>
          </p:cNvPr>
          <p:cNvSpPr txBox="1"/>
          <p:nvPr/>
        </p:nvSpPr>
        <p:spPr>
          <a:xfrm>
            <a:off x="6791730" y="5334000"/>
            <a:ext cx="1524000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3200" dirty="0"/>
              <a:t>: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3051804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F04D88-3ADC-7DCD-15C0-BBF6000E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0EDF6-5E7D-2F25-DC7D-C339FF89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A209BC-B46E-60DD-9A1C-8FB31AE09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8" y="1756917"/>
            <a:ext cx="3762900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71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B54B89-5342-0378-F6FB-42FBC47E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6ACA0-F97C-4BBA-BBC8-826F288B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5DE401-16EE-80D4-DA04-7B18CDB79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743200"/>
            <a:ext cx="4867774" cy="2972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00EBBB-1FA6-04A7-E44C-6BB073F4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722" y="2259496"/>
            <a:ext cx="2286000" cy="48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084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F255FB-435D-5F48-468D-AF5E5EBB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function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2649E-01BD-4A20-6424-F6443969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5B4496-4EBA-2EA8-4DB4-BC37CF52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384508"/>
            <a:ext cx="6421715" cy="486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730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73089D-D972-C22C-7EE1-61C43C9E5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functions</a:t>
            </a:r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A6480-6AE0-42CF-B244-AA71975F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E022E-0FE9-4E61-3D0B-D68610296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8512"/>
            <a:ext cx="6601417" cy="350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149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string Constructors </a:t>
            </a:r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F0EF4572-10BC-4DC8-80FD-F80AB93872C6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9175" y="1676400"/>
            <a:ext cx="6048375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Overloaded Operators</a:t>
            </a: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1B05C746-CABF-4590-8351-26537E7CC6E4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9500" y="1443038"/>
            <a:ext cx="5797550" cy="518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Overloaded Operators</a:t>
            </a: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/>
              <a:t>11-</a:t>
            </a:r>
            <a:fld id="{C5822883-9C57-4AE1-84B8-FEB7497B9B0C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3891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752600"/>
            <a:ext cx="54610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Converts a numeric value to a string</a:t>
            </a:r>
          </a:p>
          <a:p>
            <a:pPr lvl="1"/>
            <a:r>
              <a:rPr lang="en-US" dirty="0" err="1"/>
              <a:t>to_string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converts a string to an integer</a:t>
            </a:r>
          </a:p>
          <a:p>
            <a:pPr lvl="1"/>
            <a:r>
              <a:rPr lang="en-US" dirty="0" err="1"/>
              <a:t>stoi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converts a string to a float</a:t>
            </a:r>
          </a:p>
          <a:p>
            <a:pPr lvl="1"/>
            <a:r>
              <a:rPr lang="en-US" dirty="0" err="1"/>
              <a:t>stof</a:t>
            </a:r>
            <a:r>
              <a:rPr lang="en-US" dirty="0"/>
              <a:t>()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String and Numeric data conversions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943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</a:p>
          <a:p>
            <a:pPr lvl="1"/>
            <a:r>
              <a:rPr lang="en-US" dirty="0" err="1"/>
              <a:t>Lafore</a:t>
            </a:r>
            <a:r>
              <a:rPr lang="en-US" dirty="0"/>
              <a:t> Chp8(8.1 and 8.2) till page 343</a:t>
            </a:r>
          </a:p>
          <a:p>
            <a:pPr lvl="1"/>
            <a:endParaRPr lang="en-US" dirty="0"/>
          </a:p>
          <a:p>
            <a:r>
              <a:rPr lang="en-US" dirty="0"/>
              <a:t>Standard </a:t>
            </a:r>
            <a:r>
              <a:rPr lang="en-US"/>
              <a:t>String class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11-</a:t>
            </a:r>
            <a:fld id="{A6F1D58C-BBAB-4806-9F63-4342C959379F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21343</TotalTime>
  <Words>2888</Words>
  <Application>Microsoft Office PowerPoint</Application>
  <PresentationFormat>On-screen Show (4:3)</PresentationFormat>
  <Paragraphs>535</Paragraphs>
  <Slides>55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Calibri</vt:lpstr>
      <vt:lpstr>Courier New</vt:lpstr>
      <vt:lpstr>Lucida Sans Unicode</vt:lpstr>
      <vt:lpstr>Times New Roman</vt:lpstr>
      <vt:lpstr>Verdana</vt:lpstr>
      <vt:lpstr>Wingdings 2</vt:lpstr>
      <vt:lpstr>Wingdings 3</vt:lpstr>
      <vt:lpstr>Concourse</vt:lpstr>
      <vt:lpstr>Operator Overloading</vt:lpstr>
      <vt:lpstr>Why operator overloading ?</vt:lpstr>
      <vt:lpstr>PowerPoint Presentation</vt:lpstr>
      <vt:lpstr>Introduction</vt:lpstr>
      <vt:lpstr>Operator Overloading</vt:lpstr>
      <vt:lpstr>Overloading + Operators</vt:lpstr>
      <vt:lpstr>Overloading Operators as Instance Members</vt:lpstr>
      <vt:lpstr>Invoking an Overloaded Operator</vt:lpstr>
      <vt:lpstr>Number of Arguments for operator overloading</vt:lpstr>
      <vt:lpstr>Distance class</vt:lpstr>
      <vt:lpstr>Example- Adding Objects</vt:lpstr>
      <vt:lpstr>Operator+ member function</vt:lpstr>
      <vt:lpstr>Member vs non-member</vt:lpstr>
      <vt:lpstr>Operator+ as a nonmember function</vt:lpstr>
      <vt:lpstr>PowerPoint Presentation</vt:lpstr>
      <vt:lpstr>Friend function</vt:lpstr>
      <vt:lpstr>Operator+ as friend function of Distance class</vt:lpstr>
      <vt:lpstr>+ vs +=</vt:lpstr>
      <vt:lpstr>Operator+= member function</vt:lpstr>
      <vt:lpstr>this pointer</vt:lpstr>
      <vt:lpstr>Distance class Overloading Relational Operators</vt:lpstr>
      <vt:lpstr>Overloading involving different classes</vt:lpstr>
      <vt:lpstr>Operator Overloading with objects of different classes</vt:lpstr>
      <vt:lpstr>Operator overloading with different objects</vt:lpstr>
      <vt:lpstr>Overloading as non-member and as a member function</vt:lpstr>
      <vt:lpstr>Overloading &lt;&lt; and &gt;&gt; </vt:lpstr>
      <vt:lpstr>Overloading &lt;&lt;</vt:lpstr>
      <vt:lpstr>Overloading &gt;&gt;</vt:lpstr>
      <vt:lpstr>C++ operators</vt:lpstr>
      <vt:lpstr>PowerPoint Presentation</vt:lpstr>
      <vt:lpstr>Number of Arguments for operator overloading function</vt:lpstr>
      <vt:lpstr>PowerPoint Presentation</vt:lpstr>
      <vt:lpstr>Unary operators ++,  --</vt:lpstr>
      <vt:lpstr>Reference </vt:lpstr>
      <vt:lpstr>Pass by Value and Pass by Reference</vt:lpstr>
      <vt:lpstr>Pre Increment/Decrement Operator</vt:lpstr>
      <vt:lpstr>Post Increment/Decrement Operator</vt:lpstr>
      <vt:lpstr>Example</vt:lpstr>
      <vt:lpstr>Example</vt:lpstr>
      <vt:lpstr>Example</vt:lpstr>
      <vt:lpstr>mystring class</vt:lpstr>
      <vt:lpstr>Overloading [] operator</vt:lpstr>
      <vt:lpstr>Multiple overloading functions for same operators</vt:lpstr>
      <vt:lpstr>Related topics</vt:lpstr>
      <vt:lpstr>Standard Library string class</vt:lpstr>
      <vt:lpstr>string example &lt;-     </vt:lpstr>
      <vt:lpstr>Random access</vt:lpstr>
      <vt:lpstr>Relational Operators</vt:lpstr>
      <vt:lpstr>String function</vt:lpstr>
      <vt:lpstr>More functions</vt:lpstr>
      <vt:lpstr>string Constructors </vt:lpstr>
      <vt:lpstr>Overloaded Operators</vt:lpstr>
      <vt:lpstr>Overloaded Operators</vt:lpstr>
      <vt:lpstr>String and Numeric data conversions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Slides for Starting Out with C++ Early Objects Sixth Edition</dc:title>
  <dc:creator>Hyunyoung Lee</dc:creator>
  <cp:lastModifiedBy>shahid qureshi</cp:lastModifiedBy>
  <cp:revision>370</cp:revision>
  <dcterms:created xsi:type="dcterms:W3CDTF">2002-07-06T17:30:06Z</dcterms:created>
  <dcterms:modified xsi:type="dcterms:W3CDTF">2025-08-28T06:04:12Z</dcterms:modified>
</cp:coreProperties>
</file>